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8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8" r:id="rId13"/>
    <p:sldId id="269" r:id="rId14"/>
    <p:sldId id="267" r:id="rId15"/>
    <p:sldId id="270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2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12시 전</c:v>
          </c:tx>
          <c:spPr>
            <a:solidFill>
              <a:srgbClr val="2F6B8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0.40~0.60</c:v>
              </c:pt>
              <c:pt idx="1">
                <c:v>0.60~0.80</c:v>
              </c:pt>
            </c:strLit>
          </c:cat>
          <c:val>
            <c:numLit>
              <c:formatCode>0.0%</c:formatCode>
              <c:ptCount val="2"/>
              <c:pt idx="0">
                <c:v>0.52680000000000005</c:v>
              </c:pt>
              <c:pt idx="1">
                <c:v>0.41920000000000002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4C2-4E77-A954-6C573EE5E5B9}"/>
            </c:ext>
          </c:extLst>
        </c:ser>
        <c:ser>
          <c:idx val="1"/>
          <c:order val="1"/>
          <c:tx>
            <c:v>15시까지</c:v>
          </c:tx>
          <c:spPr>
            <a:solidFill>
              <a:srgbClr val="2B8C7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0.40~0.60</c:v>
              </c:pt>
              <c:pt idx="1">
                <c:v>0.60~0.80</c:v>
              </c:pt>
            </c:strLit>
          </c:cat>
          <c:val>
            <c:numLit>
              <c:formatCode>0.0%</c:formatCode>
              <c:ptCount val="2"/>
              <c:pt idx="0">
                <c:v>0.88480000000000003</c:v>
              </c:pt>
              <c:pt idx="1">
                <c:v>0.85609999999999997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4C2-4E77-A954-6C573EE5E5B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7E0E6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5D6B78"/>
              </a:solidFill>
              <a:latin typeface="Malgun Gothic"/>
              <a:ea typeface="Malgun Gothic"/>
              <a:cs typeface="Malgun Gothic"/>
            </a:defRPr>
          </a:pPr>
          <a:endParaRPr lang="ko-KR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12시 전</c:v>
          </c:tx>
          <c:spPr>
            <a:solidFill>
              <a:srgbClr val="D9773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0.40~0.60</c:v>
              </c:pt>
              <c:pt idx="1">
                <c:v>0.60~0.80</c:v>
              </c:pt>
            </c:strLit>
          </c:cat>
          <c:val>
            <c:numLit>
              <c:formatCode>0.0%</c:formatCode>
              <c:ptCount val="2"/>
              <c:pt idx="0">
                <c:v>0.42120000000000002</c:v>
              </c:pt>
              <c:pt idx="1">
                <c:v>0.3478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8F6-4951-A5E3-17B01E41E7C7}"/>
            </c:ext>
          </c:extLst>
        </c:ser>
        <c:ser>
          <c:idx val="1"/>
          <c:order val="1"/>
          <c:tx>
            <c:v>15시까지</c:v>
          </c:tx>
          <c:spPr>
            <a:solidFill>
              <a:srgbClr val="2F6B8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0.40~0.60</c:v>
              </c:pt>
              <c:pt idx="1">
                <c:v>0.60~0.80</c:v>
              </c:pt>
            </c:strLit>
          </c:cat>
          <c:val>
            <c:numLit>
              <c:formatCode>0.0%</c:formatCode>
              <c:ptCount val="2"/>
              <c:pt idx="0">
                <c:v>0.84589999999999999</c:v>
              </c:pt>
              <c:pt idx="1">
                <c:v>0.82689999999999997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8F6-4951-A5E3-17B01E41E7C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7E0E6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>
              <a:latin typeface="Malgun Gothic"/>
              <a:ea typeface="Malgun Gothic"/>
              <a:cs typeface="Malgun Gothic"/>
            </a:defRPr>
          </a:pPr>
          <a:endParaRPr lang="ko-KR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장 마감 누적</c:v>
          </c:tx>
          <c:spPr>
            <a:solidFill>
              <a:srgbClr val="D9773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0.40~0.60</c:v>
              </c:pt>
              <c:pt idx="1">
                <c:v>0.70~0.90</c:v>
              </c:pt>
              <c:pt idx="2">
                <c:v>1.00~1.20</c:v>
              </c:pt>
            </c:strLit>
          </c:cat>
          <c:val>
            <c:numLit>
              <c:formatCode>0.0%</c:formatCode>
              <c:ptCount val="3"/>
              <c:pt idx="0">
                <c:v>0.40870000000000001</c:v>
              </c:pt>
              <c:pt idx="1">
                <c:v>0.4249</c:v>
              </c:pt>
              <c:pt idx="2">
                <c:v>0.39729999999999999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D25-4D21-B582-FB0259B252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w="9525">
              <a:solidFill>
                <a:srgbClr val="D7E0E6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반등률</c:v>
          </c:tx>
          <c:spPr>
            <a:ln w="38100">
              <a:solidFill>
                <a:srgbClr val="2F6B8A"/>
              </a:solidFill>
              <a:prstDash val="solid"/>
            </a:ln>
          </c:spPr>
          <c:marker>
            <c:symbol val="circle"/>
            <c:size val="9"/>
            <c:spPr>
              <a:solidFill>
                <a:srgbClr val="2F6B8A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12시 전</c:v>
              </c:pt>
              <c:pt idx="1">
                <c:v>13시</c:v>
              </c:pt>
              <c:pt idx="2">
                <c:v>14시</c:v>
              </c:pt>
              <c:pt idx="3">
                <c:v>15시</c:v>
              </c:pt>
              <c:pt idx="4">
                <c:v>장 마감</c:v>
              </c:pt>
            </c:strLit>
          </c:cat>
          <c:val>
            <c:numLit>
              <c:formatCode>0.0%</c:formatCode>
              <c:ptCount val="5"/>
              <c:pt idx="0">
                <c:v>0.39779999999999999</c:v>
              </c:pt>
              <c:pt idx="1">
                <c:v>0.3997</c:v>
              </c:pt>
              <c:pt idx="2">
                <c:v>0.3967</c:v>
              </c:pt>
              <c:pt idx="3">
                <c:v>0.40539999999999998</c:v>
              </c:pt>
              <c:pt idx="4">
                <c:v>0.40560000000000002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0B0F-44FC-96B3-545A59FCE6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45"/>
          <c:min val="0.35"/>
        </c:scaling>
        <c:delete val="0"/>
        <c:axPos val="l"/>
        <c:majorGridlines>
          <c:spPr>
            <a:ln w="9525">
              <a:solidFill>
                <a:srgbClr val="D7E0E6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2.5000000000000001E-2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건수</c:v>
          </c:tx>
          <c:spPr>
            <a:solidFill>
              <a:srgbClr val="2F6B8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1.5~2배 미만</c:v>
              </c:pt>
              <c:pt idx="1">
                <c:v>2~5배 미만</c:v>
              </c:pt>
              <c:pt idx="2">
                <c:v>5~10배 미만</c:v>
              </c:pt>
              <c:pt idx="3">
                <c:v>10배 이상</c:v>
              </c:pt>
            </c:strLit>
          </c:cat>
          <c:val>
            <c:numLit>
              <c:formatCode>0</c:formatCode>
              <c:ptCount val="4"/>
              <c:pt idx="0">
                <c:v>153</c:v>
              </c:pt>
              <c:pt idx="1">
                <c:v>262</c:v>
              </c:pt>
              <c:pt idx="2">
                <c:v>92</c:v>
              </c:pt>
              <c:pt idx="3">
                <c:v>126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AC1-4DDC-86F0-1FC1AE3963F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80"/>
          <c:min val="0"/>
        </c:scaling>
        <c:delete val="0"/>
        <c:axPos val="l"/>
        <c:majorGridlines>
          <c:spPr>
            <a:ln w="9525">
              <a:solidFill>
                <a:srgbClr val="D7E0E6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5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0.03 누적 도달률</c:v>
          </c:tx>
          <c:spPr>
            <a:ln w="38100">
              <a:solidFill>
                <a:srgbClr val="2B8C7E"/>
              </a:solidFill>
              <a:prstDash val="solid"/>
            </a:ln>
          </c:spPr>
          <c:marker>
            <c:symbol val="circle"/>
            <c:size val="9"/>
            <c:spPr>
              <a:solidFill>
                <a:srgbClr val="2B8C7E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12시 전</c:v>
              </c:pt>
              <c:pt idx="1">
                <c:v>13시</c:v>
              </c:pt>
              <c:pt idx="2">
                <c:v>14시</c:v>
              </c:pt>
              <c:pt idx="3">
                <c:v>15시</c:v>
              </c:pt>
              <c:pt idx="4">
                <c:v>장 마감</c:v>
              </c:pt>
            </c:strLit>
          </c:cat>
          <c:val>
            <c:numLit>
              <c:formatCode>0.0%</c:formatCode>
              <c:ptCount val="5"/>
              <c:pt idx="0">
                <c:v>0.53420000000000001</c:v>
              </c:pt>
              <c:pt idx="1">
                <c:v>0.73650000000000004</c:v>
              </c:pt>
              <c:pt idx="2">
                <c:v>0.87770000000000004</c:v>
              </c:pt>
              <c:pt idx="3">
                <c:v>0.93600000000000005</c:v>
              </c:pt>
              <c:pt idx="4">
                <c:v>0.94030000000000002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B141-43C0-AF08-2F562EEBD5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w="9525">
              <a:solidFill>
                <a:srgbClr val="D7E0E6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건수</c:v>
          </c:tx>
          <c:spPr>
            <a:solidFill>
              <a:srgbClr val="B64D4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2배 미만</c:v>
              </c:pt>
              <c:pt idx="1">
                <c:v>2~5배 미만</c:v>
              </c:pt>
              <c:pt idx="2">
                <c:v>5~10배 미만</c:v>
              </c:pt>
              <c:pt idx="3">
                <c:v>10배 이상</c:v>
              </c:pt>
            </c:strLit>
          </c:cat>
          <c:val>
            <c:numLit>
              <c:formatCode>0</c:formatCode>
              <c:ptCount val="4"/>
              <c:pt idx="0">
                <c:v>1</c:v>
              </c:pt>
              <c:pt idx="1">
                <c:v>4</c:v>
              </c:pt>
              <c:pt idx="2">
                <c:v>3</c:v>
              </c:pt>
              <c:pt idx="3">
                <c:v>33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BF5-4C3C-9F4D-41BD1C6618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6"/>
          <c:min val="0"/>
        </c:scaling>
        <c:delete val="0"/>
        <c:axPos val="l"/>
        <c:majorGridlines>
          <c:spPr>
            <a:ln w="9525">
              <a:solidFill>
                <a:srgbClr val="D7E0E6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건수</c:v>
          </c:tx>
          <c:spPr>
            <a:solidFill>
              <a:srgbClr val="2B8C7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E2A34"/>
                    </a:solidFill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1"/>
              <c:pt idx="0">
                <c:v>09:00</c:v>
              </c:pt>
              <c:pt idx="1">
                <c:v>09:01</c:v>
              </c:pt>
              <c:pt idx="2">
                <c:v>09:02</c:v>
              </c:pt>
              <c:pt idx="3">
                <c:v>09:03</c:v>
              </c:pt>
              <c:pt idx="4">
                <c:v>09:04</c:v>
              </c:pt>
              <c:pt idx="5">
                <c:v>09:05</c:v>
              </c:pt>
              <c:pt idx="6">
                <c:v>09:06</c:v>
              </c:pt>
              <c:pt idx="7">
                <c:v>09:07</c:v>
              </c:pt>
              <c:pt idx="8">
                <c:v>09:08</c:v>
              </c:pt>
              <c:pt idx="9">
                <c:v>09:09</c:v>
              </c:pt>
              <c:pt idx="10">
                <c:v>09:10</c:v>
              </c:pt>
            </c:strLit>
          </c:cat>
          <c:val>
            <c:numLit>
              <c:formatCode>0</c:formatCode>
              <c:ptCount val="11"/>
              <c:pt idx="0">
                <c:v>791</c:v>
              </c:pt>
              <c:pt idx="1">
                <c:v>160</c:v>
              </c:pt>
              <c:pt idx="2">
                <c:v>79</c:v>
              </c:pt>
              <c:pt idx="3">
                <c:v>50</c:v>
              </c:pt>
              <c:pt idx="4">
                <c:v>40</c:v>
              </c:pt>
              <c:pt idx="5">
                <c:v>45</c:v>
              </c:pt>
              <c:pt idx="6">
                <c:v>50</c:v>
              </c:pt>
              <c:pt idx="7">
                <c:v>36</c:v>
              </c:pt>
              <c:pt idx="8">
                <c:v>29</c:v>
              </c:pt>
              <c:pt idx="9">
                <c:v>25</c:v>
              </c:pt>
              <c:pt idx="10">
                <c:v>15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FCE-47CC-952E-4CD5C6DDDB1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50"/>
          <c:min val="0"/>
        </c:scaling>
        <c:delete val="0"/>
        <c:axPos val="l"/>
        <c:majorGridlines>
          <c:spPr>
            <a:ln w="9525">
              <a:solidFill>
                <a:srgbClr val="D7E0E6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  <c:majorUnit val="10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범위: 2026-01-05~2026-08-31, 만기일 60일.</a:t>
            </a:r>
          </a:p>
          <a:p>
            <a:r>
              <a:t>원자료: KRX 위클리 옵션 1분봉 ZIP 4개. 상세 체크섬은 각 분석 metadata.json에 기록.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검증 규칙: 위클리옵션_오류교훈_및_검증규칙.md.</a:t>
            </a:r>
          </a:p>
          <a:p>
            <a:r>
              <a:t>모든 결과는 가격 경로 발생 빈도이며 수수료, 슬리피지, 실제 체결 가능성을 포함하지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0.40~0.60: 12시 전 462/877, 15시까지 776/877.</a:t>
            </a:r>
          </a:p>
          <a:p>
            <a:r>
              <a:t>0.60~0.80: 12시 전 332/792, 15시까지 678/792.</a:t>
            </a:r>
          </a:p>
          <a:p>
            <a:r>
              <a:t>정확히 0.03이 OHLC에 기록된 사례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조건: 밴드 상단 돌파 후 다른 1분봉에서 원래 밴드 안 실제 OHLC 값 재관측, 이후 다른 봉에서 0.03.</a:t>
            </a:r>
          </a:p>
          <a:p>
            <a:r>
              <a:t>0.40~0.60: 12시 전 270/641, 15시까지 549/649.</a:t>
            </a:r>
          </a:p>
          <a:p>
            <a:r>
              <a:t>0.60~0.80: 12시 전 216/621, 15시까지 516/624.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1.5배 기준: 진입 관측가격×1.5를 호가단위로 올림.</a:t>
            </a:r>
          </a:p>
          <a:p>
            <a:r>
              <a:t>순서: 진입 &lt; 1.5배 상승 &lt; 구간 하단 이탈 &lt; 정확히 0.03.</a:t>
            </a:r>
          </a:p>
          <a:p>
            <a:r>
              <a:t>최대 고점은 0.03 성공 사례 중 재하락 전 고점의 최댓값.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비율 분모는 각 시각까지 중간 단계에 도달한 사례.</a:t>
            </a:r>
          </a:p>
          <a:p>
            <a:r>
              <a:t>절반가격은 진입가격×50%, 4분의 1은 진입가격×25% 이하 저가.</a:t>
            </a:r>
          </a:p>
          <a:p>
            <a:r>
              <a:t>목표는 중간 단계 도달 이후 다른 1분봉의 정확한 OHLC 값.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반등 기준: 절반가격 도달 다음 봉부터 30분 이내 고가가 절반가격×1.5 이상.</a:t>
            </a:r>
          </a:p>
          <a:p>
            <a:r>
              <a:t>같은 봉의 순서가 애매한 사례는 주 반등 건수에서 제외.</a:t>
            </a:r>
          </a:p>
          <a:p>
            <a:r>
              <a:t>중복 제거 총합은 옵션별 가장 이른 절반가격 사건 하나만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4분의 1 가격은 진입가격×25%. 반등 기준은 그 가격×1.5, 즉 진입가격×37.5%.</a:t>
            </a:r>
          </a:p>
          <a:p>
            <a:r>
              <a:t>장 마감 누적 816건 중 반등 331건.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633건은 최초 관측 다음 분부터 30분 이내 고가가 1.5배 이상인 사례. 유지 여부는 판정하지 않음.</a:t>
            </a:r>
          </a:p>
          <a:p>
            <a:r>
              <a:t>687건은 다음 분부터 30분 내 미도달 650건과 같은 진입 분봉 순서 불명 37건의 합계.</a:t>
            </a:r>
          </a:p>
          <a:p>
            <a:r>
              <a:t>37건 중 31건은 0.03 도달, 6건은 미도달. 41건은 확정 미상승 35건과 순서 불명 6건의 합계.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배타 구간: 1.5~2배 미만 153건, 2~5배 미만 262건, 5~10배 미만 92건, 10배 이상 126건.</a:t>
            </a:r>
          </a:p>
          <a:p>
            <a:r>
              <a:t>최고 배수: 2026-07-13, 09:03 최초 0.70, 09:05 1.5배 도달, 14:31 고가 60.25, 86.07143배.</a:t>
            </a:r>
          </a:p>
          <a:p>
            <a:r>
              <a:t>절대가격 최고: 최초 1.14, 고가 74.00, 64.91228배. 도달은 고가가 한 번 닿은 기준이며 유지 여부는 조사하지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조건: 최초 관측 다음 봉부터 30분 이내 고가가 최초가격×1.5 미만.</a:t>
            </a:r>
          </a:p>
          <a:p>
            <a:r>
              <a:t>시간축은 0.03 도달 시각. 30분 상승 판정은 약 09:40까지 완료.</a:t>
            </a:r>
          </a:p>
          <a:p>
            <a:r>
              <a:t>엄격 기준은 같은 진입 봉의 순서가 애매한 사례를 미상승에서 제외.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대상: 중복 제거 687건 중 30분 내 1.5배 미상승이며 장 마감까지 정확히 0.03을 기록하지 않은 41건.</a:t>
            </a:r>
          </a:p>
          <a:p>
            <a:r>
              <a:t>배타 구간: 2배 미만 1건, 2~5배 미만 4건, 5~10배 미만 3건, 10배 이상 33건.</a:t>
            </a:r>
          </a:p>
          <a:p>
            <a:r>
              <a:t>엄격 기준: 같은 진입 봉 순서 불명 6건을 제외한 35건 중 30건(85.71%)이 10배 이상.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최고 배수 사례: 2026-07-13 KR4CAFBMA447, 최초 0.43, 14:30 고가 31.15, 72.44186배.</a:t>
            </a:r>
          </a:p>
          <a:p>
            <a:r>
              <a:t>절대가격 최고 사례: 최초 1.13, 고가 50.00, 44.24779배. 이 사례는 같은 진입 봉의 사건 순서가 불명확한 6건 중 하나.</a:t>
            </a:r>
          </a:p>
          <a:p>
            <a:r>
              <a:t>41건 최고 배수 중앙값 19.0배. 엄격 표본에서도 최대 배수는 72.44배.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분별 건수: 791, 160, 79, 50, 40, 45, 50, 36, 29, 25, 15. 합계 1,320건.</a:t>
            </a:r>
          </a:p>
          <a:p>
            <a:r>
              <a:t>가중평균 최초 관측 시각 약 09:01:31, 중앙값과 최빈값은 09:00.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슬라이드는 연구 결과의 실전 해석. 수익성 또는 투자 권유 결론이 아님.</a:t>
            </a:r>
          </a:p>
          <a:p>
            <a:r>
              <a:t>근거: reentry_decay_summary.csv, half_rebound_30m_summary.csv, entry_15x_failure_target03_summary.csv.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제한: 1분봉 내부 순서 불명, 실제 체결비용 미반영, 표본 기간 2026년 1~8월.</a:t>
            </a:r>
          </a:p>
          <a:p>
            <a:r>
              <a:t>다음 연구 권장: 손절·재진입·시간청산을 결합한 일별 동일가중 백테스트와 검증 구간 분리.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57A97A0-22AB-4099-BFD3-DC00CB079F32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102870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위클리 옵션 만기일</a:t>
            </a:r>
          </a:p>
          <a:p>
            <a:pPr algn="l"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가격 경로 연구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42026EE-DC9D-4E2F-A4A8-5B4ADE347373}"/>
              </a:ext>
            </a:extLst>
          </p:cNvPr>
          <p:cNvSpPr>
            <a:spLocks noGrp="1"/>
          </p:cNvSpPr>
          <p:nvPr/>
        </p:nvSpPr>
        <p:spPr>
          <a:xfrm>
            <a:off x="895350" y="3286125"/>
            <a:ext cx="10001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0">
                <a:solidFill>
                  <a:srgbClr val="C9D8E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C9D8E3"/>
                </a:solidFill>
                <a:latin typeface="Malgun Gothic"/>
                <a:ea typeface="Malgun Gothic"/>
                <a:cs typeface="Malgun Gothic"/>
              </a:rPr>
              <a:t>2026년 1월 5일~8월 31일 · 만기일 60일 · 1분봉 원자료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749C7C6-6EBB-4BCD-9377-913350A0534D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950" b="1">
                <a:solidFill>
                  <a:srgbClr val="E8B27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E8B27A"/>
                </a:solidFill>
                <a:latin typeface="Malgun Gothic"/>
                <a:ea typeface="Malgun Gothic"/>
                <a:cs typeface="Malgun Gothic"/>
              </a:rPr>
              <a:t>오전 진입가격, 시간대별 소멸, 반등과 재진입 위험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BD3A27-745B-41DD-B03B-2D5E23DB0343}"/>
              </a:ext>
            </a:extLst>
          </p:cNvPr>
          <p:cNvSpPr>
            <a:spLocks noGrp="1"/>
          </p:cNvSpPr>
          <p:nvPr/>
        </p:nvSpPr>
        <p:spPr>
          <a:xfrm>
            <a:off x="895350" y="5953125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196"/>
          </a:bodyPr>
          <a:lstStyle/>
          <a:p>
            <a:pPr algn="l">
              <a:defRPr sz="1275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rPr>
              <a:t>KRX 위클리 옵션 연구 요약</a:t>
            </a:r>
          </a:p>
        </p:txBody>
      </p:sp>
    </p:spTree>
    <p:extLst>
      <p:ext uri="{BB962C8B-B14F-4D97-AF65-F5344CB8AC3E}">
        <p14:creationId xmlns:p14="http://schemas.microsoft.com/office/powerpoint/2010/main" val="13463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51F0E7CC-C5E3-432A-8525-4D1861B43F60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연구 범위와 사건 순서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29D6CB-5244-488A-BA35-90E83BAE7FE5}"/>
              </a:ext>
            </a:extLst>
          </p:cNvPr>
          <p:cNvSpPr>
            <a:spLocks noGrp="1"/>
          </p:cNvSpPr>
          <p:nvPr/>
        </p:nvSpPr>
        <p:spPr>
          <a:xfrm>
            <a:off x="666750" y="942975"/>
            <a:ext cx="10839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실제 OHLC 관측값과 서로 다른 1분봉만 사용</a:t>
            </a:r>
          </a:p>
        </p:txBody>
      </p:sp>
      <p:graphicFrame>
        <p:nvGraphicFramePr>
          <p:cNvPr id="10" name="표 9"/>
          <p:cNvGraphicFramePr/>
          <p:nvPr/>
        </p:nvGraphicFramePr>
        <p:xfrm>
          <a:off x="809625" y="1571625"/>
          <a:ext cx="10572750" cy="33147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기준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 표본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09:00~09:10 실제 OHLC가 지정 가격대에 처음 포함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기준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12시 전은 12:00 봉 제외, 13·14·15시는 정각 봉 포함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 도달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0.03 또는 0.04가 OHLC에 정확히 기록된 경우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절반·4분의 1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이후 저가가 최초가격의 50% 또는 25% 이하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30분 반등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봉부터 30분 이내 고가가 기준가격의 1.5배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5475580D-749E-4C47-97DA-F3B09E6D882C}"/>
              </a:ext>
            </a:extLst>
          </p:cNvPr>
          <p:cNvSpPr>
            <a:spLocks noGrp="1"/>
          </p:cNvSpPr>
          <p:nvPr/>
        </p:nvSpPr>
        <p:spPr>
          <a:xfrm>
            <a:off x="857250" y="5286375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722"/>
          </a:bodyPr>
          <a:lstStyle/>
          <a:p>
            <a:pPr algn="l">
              <a:defRPr sz="18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분석 원칙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D495C5-243C-4BFA-8446-0360F7683587}"/>
              </a:ext>
            </a:extLst>
          </p:cNvPr>
          <p:cNvSpPr>
            <a:spLocks noGrp="1"/>
          </p:cNvSpPr>
          <p:nvPr/>
        </p:nvSpPr>
        <p:spPr>
          <a:xfrm>
            <a:off x="2476500" y="5238750"/>
            <a:ext cx="87630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같은 봉의 순서를 추정하지 않았고, 비정상 OHLC 종목을 제외했다. 기존 수익률이나 최적 비율을 새 분석의 입력으로 재사용하지 않았다.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3048E0-FE49-4754-8975-0A3DDB9BD4F3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001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원자료 ZIP, expiry_mapping.csv, 각 분석 metadata.json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F752AC-DA7B-4A66-9370-668721971D9D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953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43312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5BFF96B-B31A-4613-9CEE-583CA1ECFFA4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오전 0.40~0.80 옵션의 0.03 도달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8CCD3E9-88FC-45F6-B847-CD9EEAF3EE37}"/>
              </a:ext>
            </a:extLst>
          </p:cNvPr>
          <p:cNvSpPr>
            <a:spLocks noGrp="1"/>
          </p:cNvSpPr>
          <p:nvPr/>
        </p:nvSpPr>
        <p:spPr>
          <a:xfrm>
            <a:off x="666750" y="942975"/>
            <a:ext cx="10839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15시까지 85% 이상이 정확히 0.03을 기록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857250" y="1619250"/>
          <a:ext cx="7334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B0FA97C2-0442-4EF6-9736-04D1C8500B3F}"/>
              </a:ext>
            </a:extLst>
          </p:cNvPr>
          <p:cNvSpPr>
            <a:spLocks noGrp="1"/>
          </p:cNvSpPr>
          <p:nvPr/>
        </p:nvSpPr>
        <p:spPr>
          <a:xfrm>
            <a:off x="8763000" y="209550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776 / 877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562CA7-32D6-4A24-BDDD-44E77DEA7526}"/>
              </a:ext>
            </a:extLst>
          </p:cNvPr>
          <p:cNvSpPr>
            <a:spLocks noGrp="1"/>
          </p:cNvSpPr>
          <p:nvPr/>
        </p:nvSpPr>
        <p:spPr>
          <a:xfrm>
            <a:off x="8763000" y="2667000"/>
            <a:ext cx="2381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0.40~0.60</a:t>
            </a:r>
          </a:p>
          <a:p>
            <a:pPr algn="ctr"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15시까지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5FC8215-6C6F-40F7-A022-A0BA56E2024F}"/>
              </a:ext>
            </a:extLst>
          </p:cNvPr>
          <p:cNvSpPr>
            <a:spLocks noGrp="1"/>
          </p:cNvSpPr>
          <p:nvPr/>
        </p:nvSpPr>
        <p:spPr>
          <a:xfrm>
            <a:off x="8763000" y="371475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678 / 792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599CB4-27AA-4FFA-A8D6-D0BA4CEF3B1C}"/>
              </a:ext>
            </a:extLst>
          </p:cNvPr>
          <p:cNvSpPr>
            <a:spLocks noGrp="1"/>
          </p:cNvSpPr>
          <p:nvPr/>
        </p:nvSpPr>
        <p:spPr>
          <a:xfrm>
            <a:off x="8763000" y="4286250"/>
            <a:ext cx="2381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0.60~0.80</a:t>
            </a:r>
          </a:p>
          <a:p>
            <a:pPr algn="ctr"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15시까지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1C033DA-5C71-490A-BB80-B3F243FAEAF4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001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range_04_06_summary.csv, range_06_08_summary.csv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33A495-0F61-43E6-A989-2B7F114A52F8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953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6211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8AC605F2-4A6F-466F-BC8C-88B97AE1FD19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상승 후 원래 가격대로 돌아온 경로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E654C5C-68EB-43DB-AE1C-21B5851CDCC1}"/>
              </a:ext>
            </a:extLst>
          </p:cNvPr>
          <p:cNvSpPr>
            <a:spLocks noGrp="1"/>
          </p:cNvSpPr>
          <p:nvPr/>
        </p:nvSpPr>
        <p:spPr>
          <a:xfrm>
            <a:off x="666750" y="942975"/>
            <a:ext cx="10839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재진입 이후 15시까지 0.03 도달률은 82.7~84.6%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762000" y="1571625"/>
          <a:ext cx="76200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CFCC930A-57CC-47EB-B2EA-0FE9FFFCA6F1}"/>
              </a:ext>
            </a:extLst>
          </p:cNvPr>
          <p:cNvSpPr>
            <a:spLocks noGrp="1"/>
          </p:cNvSpPr>
          <p:nvPr/>
        </p:nvSpPr>
        <p:spPr>
          <a:xfrm>
            <a:off x="8858250" y="171450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159"/>
          </a:bodyPr>
          <a:lstStyle/>
          <a:p>
            <a:pPr algn="ctr">
              <a:defRPr sz="17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재진입 사례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859B4A-B9F9-4AA2-9D29-4BD38AED12BB}"/>
              </a:ext>
            </a:extLst>
          </p:cNvPr>
          <p:cNvSpPr>
            <a:spLocks noGrp="1"/>
          </p:cNvSpPr>
          <p:nvPr/>
        </p:nvSpPr>
        <p:spPr>
          <a:xfrm>
            <a:off x="8858250" y="2238375"/>
            <a:ext cx="2190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ctr">
              <a:defRPr sz="255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rPr>
              <a:t>649건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AE7477-9873-4926-827D-5C687558028C}"/>
              </a:ext>
            </a:extLst>
          </p:cNvPr>
          <p:cNvSpPr>
            <a:spLocks noGrp="1"/>
          </p:cNvSpPr>
          <p:nvPr/>
        </p:nvSpPr>
        <p:spPr>
          <a:xfrm>
            <a:off x="8858250" y="271462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0.40~0.60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7762EC-19B6-40F2-AEDD-3E5A095A3CB3}"/>
              </a:ext>
            </a:extLst>
          </p:cNvPr>
          <p:cNvSpPr>
            <a:spLocks noGrp="1"/>
          </p:cNvSpPr>
          <p:nvPr/>
        </p:nvSpPr>
        <p:spPr>
          <a:xfrm>
            <a:off x="8858250" y="3571875"/>
            <a:ext cx="2190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118"/>
          </a:bodyPr>
          <a:lstStyle/>
          <a:p>
            <a:pPr algn="ctr">
              <a:defRPr sz="255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rPr>
              <a:t>624건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D00C43-BDE0-46F3-AA3B-22B3524CA1BF}"/>
              </a:ext>
            </a:extLst>
          </p:cNvPr>
          <p:cNvSpPr>
            <a:spLocks noGrp="1"/>
          </p:cNvSpPr>
          <p:nvPr/>
        </p:nvSpPr>
        <p:spPr>
          <a:xfrm>
            <a:off x="8858250" y="404812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0.60~0.80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AE09990-C045-409A-A94F-2CB88942BBCA}"/>
              </a:ext>
            </a:extLst>
          </p:cNvPr>
          <p:cNvSpPr>
            <a:spLocks noGrp="1"/>
          </p:cNvSpPr>
          <p:nvPr/>
        </p:nvSpPr>
        <p:spPr>
          <a:xfrm>
            <a:off x="8572500" y="5048250"/>
            <a:ext cx="2762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7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같은 봉에서 상승과 복귀가 함께 발생한 경우는 제외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A61BC8-CE94-450F-B96C-F33B0828B873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001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reentry_decay_summary.csv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E9503A0-13EE-4961-91D9-3B090E6ACE30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953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47438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B2869E-294E-404B-B6DC-85361B361170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1.5배 상승 뒤 재하락한 사례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86EFB7-E6FE-435F-AB5A-4FA36C2AD11D}"/>
              </a:ext>
            </a:extLst>
          </p:cNvPr>
          <p:cNvSpPr>
            <a:spLocks noGrp="1"/>
          </p:cNvSpPr>
          <p:nvPr/>
        </p:nvSpPr>
        <p:spPr>
          <a:xfrm>
            <a:off x="666750" y="942975"/>
            <a:ext cx="10839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손절선 도달 뒤 구간 하단 아래로 내려온 옵션도 다수가 0.03에 도달</a:t>
            </a:r>
          </a:p>
        </p:txBody>
      </p:sp>
      <p:graphicFrame>
        <p:nvGraphicFramePr>
          <p:cNvPr id="13" name="표 12"/>
          <p:cNvGraphicFramePr/>
          <p:nvPr/>
        </p:nvGraphicFramePr>
        <p:xfrm>
          <a:off x="666750" y="1619250"/>
          <a:ext cx="10858500" cy="27146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가격대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1.5배 도달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하단 이탈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이후 0.03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도달률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0.40~0.60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12시 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41.06%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0.40~0.60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15시까지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424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84.46%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0.60~0.80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12시 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0.60~0.80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15시까지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484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369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80.92%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718C119F-05D9-4BA9-9C59-1B712B4AB135}"/>
              </a:ext>
            </a:extLst>
          </p:cNvPr>
          <p:cNvSpPr>
            <a:spLocks noGrp="1"/>
          </p:cNvSpPr>
          <p:nvPr/>
        </p:nvSpPr>
        <p:spPr>
          <a:xfrm>
            <a:off x="1428750" y="4905375"/>
            <a:ext cx="1905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982"/>
          </a:bodyPr>
          <a:lstStyle/>
          <a:p>
            <a:pPr algn="ctr">
              <a:defRPr sz="28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14.45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ABF992-E5AD-46E7-BE3D-5FC1606CA505}"/>
              </a:ext>
            </a:extLst>
          </p:cNvPr>
          <p:cNvSpPr>
            <a:spLocks noGrp="1"/>
          </p:cNvSpPr>
          <p:nvPr/>
        </p:nvSpPr>
        <p:spPr>
          <a:xfrm>
            <a:off x="762000" y="5476875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0.40~0.60 성공 사례의 최대 고점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624C1F-67C9-4726-BE59-5BCB67D3DF04}"/>
              </a:ext>
            </a:extLst>
          </p:cNvPr>
          <p:cNvSpPr>
            <a:spLocks noGrp="1"/>
          </p:cNvSpPr>
          <p:nvPr/>
        </p:nvSpPr>
        <p:spPr>
          <a:xfrm>
            <a:off x="5143500" y="4905375"/>
            <a:ext cx="1905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982"/>
          </a:bodyPr>
          <a:lstStyle/>
          <a:p>
            <a:pPr algn="ctr">
              <a:defRPr sz="28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16.25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DB37C0-82C5-45A7-80A2-ACE5120486F7}"/>
              </a:ext>
            </a:extLst>
          </p:cNvPr>
          <p:cNvSpPr>
            <a:spLocks noGrp="1"/>
          </p:cNvSpPr>
          <p:nvPr/>
        </p:nvSpPr>
        <p:spPr>
          <a:xfrm>
            <a:off x="4476750" y="5476875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0.60~0.80 성공 사례의 최대 고점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B0B1A64-FEEE-401D-A87A-9E44500E3131}"/>
              </a:ext>
            </a:extLst>
          </p:cNvPr>
          <p:cNvSpPr>
            <a:spLocks noGrp="1"/>
          </p:cNvSpPr>
          <p:nvPr/>
        </p:nvSpPr>
        <p:spPr>
          <a:xfrm>
            <a:off x="8191500" y="4905375"/>
            <a:ext cx="304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손절 후 되돌림 빈도가 높아 재진입 규칙과 꼬리손실을 함께 검토해야 한다.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36A9980-C9D0-48B5-98A0-FBB87F614D3B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001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reentry_decay_summary.csv, reentry_decay_events.csv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52C1C2B-B074-4555-80B9-611D0CFB1203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953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05350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5D3BE9-0A1E-447D-A07D-08AC998A882B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가격 하락 단계와 목표가 도달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3CB90D-52EA-4268-A927-895BFD7B9F3A}"/>
              </a:ext>
            </a:extLst>
          </p:cNvPr>
          <p:cNvSpPr>
            <a:spLocks noGrp="1"/>
          </p:cNvSpPr>
          <p:nvPr/>
        </p:nvSpPr>
        <p:spPr>
          <a:xfrm>
            <a:off x="666750" y="942975"/>
            <a:ext cx="10839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더 낮은 단계에 도달한 집단일수록 후속 목표가 도달률이 높음</a:t>
            </a:r>
          </a:p>
        </p:txBody>
      </p:sp>
      <p:graphicFrame>
        <p:nvGraphicFramePr>
          <p:cNvPr id="13" name="표 12"/>
          <p:cNvGraphicFramePr/>
          <p:nvPr/>
        </p:nvGraphicFramePr>
        <p:xfrm>
          <a:off x="666750" y="1619250"/>
          <a:ext cx="10858500" cy="28575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진입 가격대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단계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12시 전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15시까지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 마감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0.40~0.60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절반가격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56.69%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91.40%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0.60~0.80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절반가격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0.03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45.54%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89.33%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91.20%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0.80~1.20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절반가격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87.50%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89.79%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0.80~1.20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4분의 1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0.04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47.90%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90.85%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92.65%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F1236F16-03C5-48A9-91A4-882C7EA5E892}"/>
              </a:ext>
            </a:extLst>
          </p:cNvPr>
          <p:cNvSpPr>
            <a:spLocks noGrp="1"/>
          </p:cNvSpPr>
          <p:nvPr/>
        </p:nvSpPr>
        <p:spPr>
          <a:xfrm>
            <a:off x="1047750" y="509587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216"/>
          </a:bodyPr>
          <a:lstStyle/>
          <a:p>
            <a:pPr algn="ctr"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816건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210BE2-91F1-43D4-BE16-83DE954D8738}"/>
              </a:ext>
            </a:extLst>
          </p:cNvPr>
          <p:cNvSpPr>
            <a:spLocks noGrp="1"/>
          </p:cNvSpPr>
          <p:nvPr/>
        </p:nvSpPr>
        <p:spPr>
          <a:xfrm>
            <a:off x="666750" y="5572125"/>
            <a:ext cx="2476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148"/>
          </a:bodyPr>
          <a:lstStyle/>
          <a:p>
            <a: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0.80~1.20에서 4분의 1 가격 도달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2A5D97-4267-4370-B82F-B686D5F67DAA}"/>
              </a:ext>
            </a:extLst>
          </p:cNvPr>
          <p:cNvSpPr>
            <a:spLocks noGrp="1"/>
          </p:cNvSpPr>
          <p:nvPr/>
        </p:nvSpPr>
        <p:spPr>
          <a:xfrm>
            <a:off x="4476750" y="509587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216"/>
          </a:bodyPr>
          <a:lstStyle/>
          <a:p>
            <a:pPr algn="ctr">
              <a:defRPr sz="2550" b="1">
                <a:solidFill>
                  <a:srgbClr val="2B8C7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B8C7E"/>
                </a:solidFill>
                <a:latin typeface="Malgun Gothic"/>
                <a:ea typeface="Malgun Gothic"/>
                <a:cs typeface="Malgun Gothic"/>
              </a:rPr>
              <a:t>756건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2B21A17-A9DF-4AC6-8993-A442756C9938}"/>
              </a:ext>
            </a:extLst>
          </p:cNvPr>
          <p:cNvSpPr>
            <a:spLocks noGrp="1"/>
          </p:cNvSpPr>
          <p:nvPr/>
        </p:nvSpPr>
        <p:spPr>
          <a:xfrm>
            <a:off x="4095750" y="5572125"/>
            <a:ext cx="2476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그중 장 마감까지 0.04 도달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DAAFC8-9BCF-4CA3-B1A9-953F8E09EF88}"/>
              </a:ext>
            </a:extLst>
          </p:cNvPr>
          <p:cNvSpPr>
            <a:spLocks noGrp="1"/>
          </p:cNvSpPr>
          <p:nvPr/>
        </p:nvSpPr>
        <p:spPr>
          <a:xfrm>
            <a:off x="7620000" y="5095875"/>
            <a:ext cx="3333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정확한 목표가 기록을 사용했으며 목표가 아래로 건너뛴 사례는 별도 관리했다.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AD0DE3-9FF3-4EC1-8E36-344173CFFF3D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001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half_price_summary.csv, half_price_08_12_target04_summary.csv, quarter_price_08_12_target04_summary.csv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EE9E58-985A-4298-B2A2-4A7E8B898030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953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52312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36AA5CB-2933-4FA3-9A8B-F8F78DF2B0DB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절반가격 도달 후 30분 반등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12DDCD-9EFD-487F-8134-E42C4635D62E}"/>
              </a:ext>
            </a:extLst>
          </p:cNvPr>
          <p:cNvSpPr>
            <a:spLocks noGrp="1"/>
          </p:cNvSpPr>
          <p:nvPr/>
        </p:nvSpPr>
        <p:spPr>
          <a:xfrm>
            <a:off x="666750" y="942975"/>
            <a:ext cx="10839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세 가격대 모두 절반가격의 1.5배 반등률은 약 40%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762000" y="1571625"/>
          <a:ext cx="7239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표 10"/>
          <p:cNvGraphicFramePr/>
          <p:nvPr/>
        </p:nvGraphicFramePr>
        <p:xfrm>
          <a:off x="8334375" y="1952625"/>
          <a:ext cx="3048000" cy="2097405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가격대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절반 도달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30분 반등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0.40~0.60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0.70~0.90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732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311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1.00~1.20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663B379B-352A-4AD5-BABC-F650EE9A01FA}"/>
              </a:ext>
            </a:extLst>
          </p:cNvPr>
          <p:cNvSpPr>
            <a:spLocks noGrp="1"/>
          </p:cNvSpPr>
          <p:nvPr/>
        </p:nvSpPr>
        <p:spPr>
          <a:xfrm>
            <a:off x="8096250" y="4762500"/>
            <a:ext cx="34766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중복 제거 총합: 1,281건 중 518건 반등 · 40.44%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CFDC0AA-13F7-4453-AA59-B354C9D09954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001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half_rebound_30m_summary.csv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A3E54A-2DCD-431C-B112-E8763AC64DC0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953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14881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CCF5AE1-A784-453C-A852-AB6F96CF048E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4분의 1 가격 도달 후 30분 반등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A7F481E-9E3F-4FE3-BDB9-6B8B7C329D00}"/>
              </a:ext>
            </a:extLst>
          </p:cNvPr>
          <p:cNvSpPr>
            <a:spLocks noGrp="1"/>
          </p:cNvSpPr>
          <p:nvPr/>
        </p:nvSpPr>
        <p:spPr>
          <a:xfrm>
            <a:off x="666750" y="942975"/>
            <a:ext cx="10839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0.80~1.20 옵션 816건 중 331건이 1.5배 반등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4567AB0-60F1-4B21-BBD9-4B0C3569B26B}"/>
              </a:ext>
            </a:extLst>
          </p:cNvPr>
          <p:cNvSpPr>
            <a:spLocks noGrp="1"/>
          </p:cNvSpPr>
          <p:nvPr/>
        </p:nvSpPr>
        <p:spPr>
          <a:xfrm>
            <a:off x="904875" y="1809750"/>
            <a:ext cx="36195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510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40.56%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A5169C-BED5-4D6F-9275-EE99DDA9A2F5}"/>
              </a:ext>
            </a:extLst>
          </p:cNvPr>
          <p:cNvSpPr>
            <a:spLocks noGrp="1"/>
          </p:cNvSpPr>
          <p:nvPr/>
        </p:nvSpPr>
        <p:spPr>
          <a:xfrm>
            <a:off x="1000125" y="2857500"/>
            <a:ext cx="3429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7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4분의 1 가격의 1.5배까지</a:t>
            </a:r>
          </a:p>
          <a:p>
            <a:pPr algn="ctr">
              <a:defRPr sz="17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30분 이내 반등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4953000" y="1524000"/>
          <a:ext cx="63817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2952DC08-2807-4164-884F-A3CCE57E54EB}"/>
              </a:ext>
            </a:extLst>
          </p:cNvPr>
          <p:cNvSpPr>
            <a:spLocks noGrp="1"/>
          </p:cNvSpPr>
          <p:nvPr/>
        </p:nvSpPr>
        <p:spPr>
          <a:xfrm>
            <a:off x="1047750" y="433387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425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같은 봉 순서 불명 43건 제외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926049-A26D-4202-A4DB-62D3F54CE349}"/>
              </a:ext>
            </a:extLst>
          </p:cNvPr>
          <p:cNvSpPr>
            <a:spLocks noGrp="1"/>
          </p:cNvSpPr>
          <p:nvPr/>
        </p:nvSpPr>
        <p:spPr>
          <a:xfrm>
            <a:off x="1047750" y="48577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425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장 종료로 30분 미관측 11건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23239B-7336-45BB-871A-593EA5D85759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001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quarter_price_08_12_target04_summary.csv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A11389-433B-4186-B971-7D72C48E8A40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953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41410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790ECE-F996-4015-AEEC-B428B42DD725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1,320건의 30분 상승 판정 구조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DACEA62-874F-4027-ABF3-7FD3504C0BFE}"/>
              </a:ext>
            </a:extLst>
          </p:cNvPr>
          <p:cNvSpPr>
            <a:spLocks noGrp="1"/>
          </p:cNvSpPr>
          <p:nvPr/>
        </p:nvSpPr>
        <p:spPr>
          <a:xfrm>
            <a:off x="666750" y="942975"/>
            <a:ext cx="10839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동일 진입 분봉의 순서 불명 37건을 별도로 분리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B993DC-2EC9-40F9-BB1A-6EEA37E75386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300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rPr>
              <a:t>633건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3A0DFB-CAA4-4729-A836-B2DC355B0574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2571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다음 분부터 30분 이내</a:t>
            </a:r>
          </a:p>
          <a:p>
            <a:pPr algn="ctr"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1.5배 도달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FA5D58-86A2-4C1A-A89B-8C27CFD7BD50}"/>
              </a:ext>
            </a:extLst>
          </p:cNvPr>
          <p:cNvSpPr>
            <a:spLocks noGrp="1"/>
          </p:cNvSpPr>
          <p:nvPr/>
        </p:nvSpPr>
        <p:spPr>
          <a:xfrm>
            <a:off x="3381375" y="1857375"/>
            <a:ext cx="6191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 algn="ctr">
              <a:defRPr sz="28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0D82E24-F01A-4CA0-A927-F2B50186B411}"/>
              </a:ext>
            </a:extLst>
          </p:cNvPr>
          <p:cNvSpPr>
            <a:spLocks noGrp="1"/>
          </p:cNvSpPr>
          <p:nvPr/>
        </p:nvSpPr>
        <p:spPr>
          <a:xfrm>
            <a:off x="4048125" y="1571625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300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37건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6118A6-652D-44C6-86EB-E09C18FB3CE9}"/>
              </a:ext>
            </a:extLst>
          </p:cNvPr>
          <p:cNvSpPr>
            <a:spLocks noGrp="1"/>
          </p:cNvSpPr>
          <p:nvPr/>
        </p:nvSpPr>
        <p:spPr>
          <a:xfrm>
            <a:off x="4048125" y="2143125"/>
            <a:ext cx="238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같은 진입 분봉</a:t>
            </a:r>
          </a:p>
          <a:p>
            <a:pPr algn="ctr"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사건 순서 불명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2055C1-41A9-44CD-8B5D-1561725F15A3}"/>
              </a:ext>
            </a:extLst>
          </p:cNvPr>
          <p:cNvSpPr>
            <a:spLocks noGrp="1"/>
          </p:cNvSpPr>
          <p:nvPr/>
        </p:nvSpPr>
        <p:spPr>
          <a:xfrm>
            <a:off x="6477000" y="1857375"/>
            <a:ext cx="61912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 algn="ctr">
              <a:defRPr sz="28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2C94A3-0124-4CFD-8FB8-B71264BFBC7B}"/>
              </a:ext>
            </a:extLst>
          </p:cNvPr>
          <p:cNvSpPr>
            <a:spLocks noGrp="1"/>
          </p:cNvSpPr>
          <p:nvPr/>
        </p:nvSpPr>
        <p:spPr>
          <a:xfrm>
            <a:off x="7143750" y="1571625"/>
            <a:ext cx="2571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3000" b="1">
                <a:solidFill>
                  <a:srgbClr val="2B8C7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2B8C7E"/>
                </a:solidFill>
                <a:latin typeface="Malgun Gothic"/>
                <a:ea typeface="Malgun Gothic"/>
                <a:cs typeface="Malgun Gothic"/>
              </a:rPr>
              <a:t>650건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34DED6-3EDB-4BD2-9BED-69627226BEA2}"/>
              </a:ext>
            </a:extLst>
          </p:cNvPr>
          <p:cNvSpPr>
            <a:spLocks noGrp="1"/>
          </p:cNvSpPr>
          <p:nvPr/>
        </p:nvSpPr>
        <p:spPr>
          <a:xfrm>
            <a:off x="7143750" y="2143125"/>
            <a:ext cx="2571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30분 이내 1.5배</a:t>
            </a:r>
          </a:p>
          <a:p>
            <a:pPr algn="ctr">
              <a:def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미도달 확정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C12B8C-35A4-4473-A5CB-6BF9F8224638}"/>
              </a:ext>
            </a:extLst>
          </p:cNvPr>
          <p:cNvSpPr>
            <a:spLocks noGrp="1"/>
          </p:cNvSpPr>
          <p:nvPr/>
        </p:nvSpPr>
        <p:spPr>
          <a:xfrm>
            <a:off x="9810750" y="1790700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= 1,320건</a:t>
            </a:r>
          </a:p>
        </p:txBody>
      </p:sp>
      <p:graphicFrame>
        <p:nvGraphicFramePr>
          <p:cNvPr id="27" name="표 26"/>
          <p:cNvGraphicFramePr/>
          <p:nvPr/>
        </p:nvGraphicFramePr>
        <p:xfrm>
          <a:off x="1428750" y="3333750"/>
          <a:ext cx="9334500" cy="19812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30분 상승 판정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0.03 도달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0.03 미도달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미상승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분봉 순서 불명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3EA72C7D-8AFB-4E83-9D66-11B8B9360ADF}"/>
              </a:ext>
            </a:extLst>
          </p:cNvPr>
          <p:cNvSpPr>
            <a:spLocks noGrp="1"/>
          </p:cNvSpPr>
          <p:nvPr/>
        </p:nvSpPr>
        <p:spPr>
          <a:xfrm>
            <a:off x="1619250" y="5762625"/>
            <a:ext cx="8953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94.03% = 646 / 687 · 엄격 기준 94.62% = 615 / 650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8114B3-70A1-4BA3-A4B9-E44E6D22DFEB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001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entry_15x_failure_target03_events.csv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1294C6-8859-4993-BB3F-7C2946399803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953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18338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B58BF60A-0B1D-42FA-94EA-D089BAD522DC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30분 내 1.5배 도달 633건의 장중 최고점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56F2DE0-DD8A-4F49-881A-5F6076EB4E78}"/>
              </a:ext>
            </a:extLst>
          </p:cNvPr>
          <p:cNvSpPr>
            <a:spLocks noGrp="1"/>
          </p:cNvSpPr>
          <p:nvPr/>
        </p:nvSpPr>
        <p:spPr>
          <a:xfrm>
            <a:off x="666750" y="942975"/>
            <a:ext cx="10839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최초 관측 다음 분부터 장 마감까지의 최고가 ÷ 최초 관측가격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619125" y="1571625"/>
          <a:ext cx="68580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D2652183-CC5F-48A5-B3D7-7536F214D14A}"/>
              </a:ext>
            </a:extLst>
          </p:cNvPr>
          <p:cNvSpPr>
            <a:spLocks noGrp="1"/>
          </p:cNvSpPr>
          <p:nvPr/>
        </p:nvSpPr>
        <p:spPr>
          <a:xfrm>
            <a:off x="8096250" y="1571625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889"/>
          </a:bodyPr>
          <a:lstStyle/>
          <a:p>
            <a:pPr algn="ctr">
              <a:defRPr sz="1575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최고 배수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7B32C1-F857-4921-BD89-320680A5963D}"/>
              </a:ext>
            </a:extLst>
          </p:cNvPr>
          <p:cNvSpPr>
            <a:spLocks noGrp="1"/>
          </p:cNvSpPr>
          <p:nvPr/>
        </p:nvSpPr>
        <p:spPr>
          <a:xfrm>
            <a:off x="8096250" y="1952625"/>
            <a:ext cx="2952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330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86.07배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FDCE82-5F89-47FF-9AC2-B7D9A48DA5C7}"/>
              </a:ext>
            </a:extLst>
          </p:cNvPr>
          <p:cNvSpPr>
            <a:spLocks noGrp="1"/>
          </p:cNvSpPr>
          <p:nvPr/>
        </p:nvSpPr>
        <p:spPr>
          <a:xfrm>
            <a:off x="8096250" y="2619375"/>
            <a:ext cx="29527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4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0.70 → 60.25</a:t>
            </a:r>
          </a:p>
          <a:p>
            <a:pPr algn="ctr">
              <a:defRPr sz="14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2026-07-13 · 14:31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21AD52-C236-495E-AAD9-25E6E66F9693}"/>
              </a:ext>
            </a:extLst>
          </p:cNvPr>
          <p:cNvSpPr>
            <a:spLocks noGrp="1"/>
          </p:cNvSpPr>
          <p:nvPr/>
        </p:nvSpPr>
        <p:spPr>
          <a:xfrm>
            <a:off x="8096250" y="3571875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889"/>
          </a:bodyPr>
          <a:lstStyle/>
          <a:p>
            <a:pPr algn="ctr">
              <a:defRPr sz="1575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절대가격 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CC88F0-E06C-4105-9E0C-10AD87F9D4D1}"/>
              </a:ext>
            </a:extLst>
          </p:cNvPr>
          <p:cNvSpPr>
            <a:spLocks noGrp="1"/>
          </p:cNvSpPr>
          <p:nvPr/>
        </p:nvSpPr>
        <p:spPr>
          <a:xfrm>
            <a:off x="8096250" y="3952875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 algn="ctr">
              <a:defRPr sz="285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74.00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8A4CBB-F3B2-4E67-B251-7EF220DF7655}"/>
              </a:ext>
            </a:extLst>
          </p:cNvPr>
          <p:cNvSpPr>
            <a:spLocks noGrp="1"/>
          </p:cNvSpPr>
          <p:nvPr/>
        </p:nvSpPr>
        <p:spPr>
          <a:xfrm>
            <a:off x="8096250" y="44958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1.14 대비 64.91배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83E205-8BD5-49A9-85B7-195456A5F4AE}"/>
              </a:ext>
            </a:extLst>
          </p:cNvPr>
          <p:cNvSpPr>
            <a:spLocks noGrp="1"/>
          </p:cNvSpPr>
          <p:nvPr/>
        </p:nvSpPr>
        <p:spPr>
          <a:xfrm>
            <a:off x="857250" y="561975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중앙값 3.32배 · 2배 이상 75.83% · 5배 이상 34.44% · 10배 이상 19.91%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1361A4-B01C-4B22-98DB-34D877AC3502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001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entry_15x_risers_peak_detail.csv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261272-FC15-4778-9377-BC8FF6FBA93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953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89452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8838AA5-05B5-4DEF-903F-DA01485888F1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최초가격의 1.5배에 오르지 못한 옵션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D75340E-A380-4B84-AC88-E005561008D6}"/>
              </a:ext>
            </a:extLst>
          </p:cNvPr>
          <p:cNvSpPr>
            <a:spLocks noGrp="1"/>
          </p:cNvSpPr>
          <p:nvPr/>
        </p:nvSpPr>
        <p:spPr>
          <a:xfrm>
            <a:off x="666750" y="942975"/>
            <a:ext cx="10839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중복 제거 687건 중 646건이 장 마감까지 0.03 도달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666750" y="1571625"/>
          <a:ext cx="695325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표 10"/>
          <p:cNvGraphicFramePr/>
          <p:nvPr/>
        </p:nvGraphicFramePr>
        <p:xfrm>
          <a:off x="8191500" y="1666875"/>
          <a:ext cx="3143250" cy="302895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건수</a:t>
                      </a:r>
                    </a:p>
                  </a:txBody>
                  <a:tcPr>
                    <a:solidFill>
                      <a:srgbClr val="1428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옵션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30분 내 1.5배 상승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633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30분 내 미상승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미상승 후 0.03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E2A34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미상승·0.03 미도달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F6B8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E93875D-BBE6-471F-966F-B5F03FEDE7E2}"/>
              </a:ext>
            </a:extLst>
          </p:cNvPr>
          <p:cNvSpPr>
            <a:spLocks noGrp="1"/>
          </p:cNvSpPr>
          <p:nvPr/>
        </p:nvSpPr>
        <p:spPr>
          <a:xfrm>
            <a:off x="7953375" y="5191125"/>
            <a:ext cx="36195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4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엄격 기준: 확정 미상승 650건 중 615건이 0.03 도달 · 94.62%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6DDFCB-4C84-454F-B5BA-8F31612EBAC1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001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entry_15x_failure_target03_summary.csv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0A895A-2D27-4CCC-AB00-C7D494C114AD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953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89635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31F45C04-53A5-4BF4-B6AD-F3BFC4FE99BA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0.03 미도달 41건의 장중 최고점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0DEE9F-C89E-4D69-A398-B4C056438D9B}"/>
              </a:ext>
            </a:extLst>
          </p:cNvPr>
          <p:cNvSpPr>
            <a:spLocks noGrp="1"/>
          </p:cNvSpPr>
          <p:nvPr/>
        </p:nvSpPr>
        <p:spPr>
          <a:xfrm>
            <a:off x="666750" y="942975"/>
            <a:ext cx="10839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최초 관측 다음 분부터 장 마감까지의 고가 ÷ 최초 관측가격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666750" y="1524000"/>
          <a:ext cx="6810375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2BDFED22-0E62-4D32-9DEB-2BCF784E3741}"/>
              </a:ext>
            </a:extLst>
          </p:cNvPr>
          <p:cNvSpPr>
            <a:spLocks noGrp="1"/>
          </p:cNvSpPr>
          <p:nvPr/>
        </p:nvSpPr>
        <p:spPr>
          <a:xfrm>
            <a:off x="8191500" y="15716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8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누적 기준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7683B5-C36C-49B7-A1F1-DA44C45EFF4D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333"/>
          </a:bodyPr>
          <a:lstStyle/>
          <a:p>
            <a:pPr algn="ctr">
              <a:defRPr sz="225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rPr>
              <a:t>40건 · 97.56%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AB6BF1-B7A5-4BC2-9BC7-B710B422D684}"/>
              </a:ext>
            </a:extLst>
          </p:cNvPr>
          <p:cNvSpPr>
            <a:spLocks noGrp="1"/>
          </p:cNvSpPr>
          <p:nvPr/>
        </p:nvSpPr>
        <p:spPr>
          <a:xfrm>
            <a:off x="8096250" y="2638425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2배 이상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84166D9-3DC1-4EEB-9BF3-5738B6EA9F7B}"/>
              </a:ext>
            </a:extLst>
          </p:cNvPr>
          <p:cNvSpPr>
            <a:spLocks noGrp="1"/>
          </p:cNvSpPr>
          <p:nvPr/>
        </p:nvSpPr>
        <p:spPr>
          <a:xfrm>
            <a:off x="8096250" y="3286125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333"/>
          </a:bodyPr>
          <a:lstStyle/>
          <a:p>
            <a:pPr algn="ctr">
              <a:defRPr sz="225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36건 · 87.80%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EE29825-E6AB-48E7-91DF-E6F9E318BF5A}"/>
              </a:ext>
            </a:extLst>
          </p:cNvPr>
          <p:cNvSpPr>
            <a:spLocks noGrp="1"/>
          </p:cNvSpPr>
          <p:nvPr/>
        </p:nvSpPr>
        <p:spPr>
          <a:xfrm>
            <a:off x="8096250" y="373380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5배 이상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C8CF8E-735C-4B45-B304-97B2D5DFC952}"/>
              </a:ext>
            </a:extLst>
          </p:cNvPr>
          <p:cNvSpPr>
            <a:spLocks noGrp="1"/>
          </p:cNvSpPr>
          <p:nvPr/>
        </p:nvSpPr>
        <p:spPr>
          <a:xfrm>
            <a:off x="8096250" y="438150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333"/>
          </a:bodyPr>
          <a:lstStyle/>
          <a:p>
            <a:pPr algn="ctr">
              <a:defRPr sz="22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33건 · 80.49%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56CE57-D583-4A14-B6BD-C7525A897090}"/>
              </a:ext>
            </a:extLst>
          </p:cNvPr>
          <p:cNvSpPr>
            <a:spLocks noGrp="1"/>
          </p:cNvSpPr>
          <p:nvPr/>
        </p:nvSpPr>
        <p:spPr>
          <a:xfrm>
            <a:off x="8096250" y="4829175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10배 이상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89BFA5-CE4B-4D0C-8E10-D2F3783EB3F8}"/>
              </a:ext>
            </a:extLst>
          </p:cNvPr>
          <p:cNvSpPr>
            <a:spLocks noGrp="1"/>
          </p:cNvSpPr>
          <p:nvPr/>
        </p:nvSpPr>
        <p:spPr>
          <a:xfrm>
            <a:off x="904875" y="5619750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41건 중 21건이 2026-07-13과 2026-08-18 두 날짜에 집중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9065E5-54D7-41D5-B2D1-DCF716F96BED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001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entry_15x_non_target_peak_detail.csv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1882075-95EE-4AFC-AC91-2FD9FB9827FC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953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67269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B7992B-C404-41D9-9DBE-24A501F16891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가장 크게 상승한 사례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CCFE1B2-FFC4-4E8F-87C6-FD6930B07157}"/>
              </a:ext>
            </a:extLst>
          </p:cNvPr>
          <p:cNvSpPr>
            <a:spLocks noGrp="1"/>
          </p:cNvSpPr>
          <p:nvPr/>
        </p:nvSpPr>
        <p:spPr>
          <a:xfrm>
            <a:off x="666750" y="942975"/>
            <a:ext cx="10839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높은 0.03 도달률의 반대편에는 매우 큰 꼬리위험이 존재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71B228-4F07-45CF-B941-43C2032C759F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2571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611"/>
          </a:bodyPr>
          <a:lstStyle/>
          <a:p>
            <a:pPr algn="ctr">
              <a:defRPr sz="18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최고 배수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A71D1BB-6F88-4B98-9520-57B65BFA746F}"/>
              </a:ext>
            </a:extLst>
          </p:cNvPr>
          <p:cNvSpPr>
            <a:spLocks noGrp="1"/>
          </p:cNvSpPr>
          <p:nvPr/>
        </p:nvSpPr>
        <p:spPr>
          <a:xfrm>
            <a:off x="904875" y="2143125"/>
            <a:ext cx="2190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032"/>
          </a:bodyPr>
          <a:lstStyle/>
          <a:p>
            <a:pPr algn="ctr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0.43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BCD932-80CB-4A39-BC13-4ABE37F04ADB}"/>
              </a:ext>
            </a:extLst>
          </p:cNvPr>
          <p:cNvSpPr>
            <a:spLocks noGrp="1"/>
          </p:cNvSpPr>
          <p:nvPr/>
        </p:nvSpPr>
        <p:spPr>
          <a:xfrm>
            <a:off x="904875" y="268605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최초 관측가격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3D7B08-C61F-4254-809E-C8D839941220}"/>
              </a:ext>
            </a:extLst>
          </p:cNvPr>
          <p:cNvSpPr>
            <a:spLocks noGrp="1"/>
          </p:cNvSpPr>
          <p:nvPr/>
        </p:nvSpPr>
        <p:spPr>
          <a:xfrm>
            <a:off x="3190875" y="2190750"/>
            <a:ext cx="857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583"/>
          </a:bodyPr>
          <a:lstStyle/>
          <a:p>
            <a:pPr algn="ctr">
              <a:defRPr sz="300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447B27-C949-4A67-B67F-8F99854AEEC9}"/>
              </a:ext>
            </a:extLst>
          </p:cNvPr>
          <p:cNvSpPr>
            <a:spLocks noGrp="1"/>
          </p:cNvSpPr>
          <p:nvPr/>
        </p:nvSpPr>
        <p:spPr>
          <a:xfrm>
            <a:off x="4048125" y="2143125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032"/>
          </a:bodyPr>
          <a:lstStyle/>
          <a:p>
            <a:pPr algn="ctr">
              <a:defRPr sz="31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31.15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DE3766-1AB6-4053-B0E3-D881AD03360B}"/>
              </a:ext>
            </a:extLst>
          </p:cNvPr>
          <p:cNvSpPr>
            <a:spLocks noGrp="1"/>
          </p:cNvSpPr>
          <p:nvPr/>
        </p:nvSpPr>
        <p:spPr>
          <a:xfrm>
            <a:off x="4048125" y="26860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 algn="ctr">
              <a:def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당일 최고가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4A06D7-6C44-47B9-BA6A-6D124A2D616A}"/>
              </a:ext>
            </a:extLst>
          </p:cNvPr>
          <p:cNvSpPr>
            <a:spLocks noGrp="1"/>
          </p:cNvSpPr>
          <p:nvPr/>
        </p:nvSpPr>
        <p:spPr>
          <a:xfrm>
            <a:off x="1238250" y="3286125"/>
            <a:ext cx="4857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390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72.44배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9DA500-7D5E-4B7B-B2D0-3EDF9C0164A2}"/>
              </a:ext>
            </a:extLst>
          </p:cNvPr>
          <p:cNvSpPr>
            <a:spLocks noGrp="1"/>
          </p:cNvSpPr>
          <p:nvPr/>
        </p:nvSpPr>
        <p:spPr>
          <a:xfrm>
            <a:off x="1238250" y="4048125"/>
            <a:ext cx="4857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2026-07-13 · 14:30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CB2466-3082-4ACC-BE2B-AF8670B03A24}"/>
              </a:ext>
            </a:extLst>
          </p:cNvPr>
          <p:cNvSpPr>
            <a:spLocks noGrp="1"/>
          </p:cNvSpPr>
          <p:nvPr/>
        </p:nvSpPr>
        <p:spPr>
          <a:xfrm>
            <a:off x="7524750" y="1571625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611"/>
          </a:bodyPr>
          <a:lstStyle/>
          <a:p>
            <a:pPr algn="ctr">
              <a:defRPr sz="18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절대가격 최고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BF64F2-3D1A-4719-8BB1-C0B257C55C3C}"/>
              </a:ext>
            </a:extLst>
          </p:cNvPr>
          <p:cNvSpPr>
            <a:spLocks noGrp="1"/>
          </p:cNvSpPr>
          <p:nvPr/>
        </p:nvSpPr>
        <p:spPr>
          <a:xfrm>
            <a:off x="7524750" y="2238375"/>
            <a:ext cx="314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28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1.13 → 50.00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1019362-91C5-4DFB-B9E2-C824D7CF87CB}"/>
              </a:ext>
            </a:extLst>
          </p:cNvPr>
          <p:cNvSpPr>
            <a:spLocks noGrp="1"/>
          </p:cNvSpPr>
          <p:nvPr/>
        </p:nvSpPr>
        <p:spPr>
          <a:xfrm>
            <a:off x="7524750" y="3000375"/>
            <a:ext cx="314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300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44.25배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E43B00-240A-46B1-B9D8-4D63EDCF465B}"/>
              </a:ext>
            </a:extLst>
          </p:cNvPr>
          <p:cNvSpPr>
            <a:spLocks noGrp="1"/>
          </p:cNvSpPr>
          <p:nvPr/>
        </p:nvSpPr>
        <p:spPr>
          <a:xfrm>
            <a:off x="7524750" y="3952875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333"/>
          </a:bodyPr>
          <a:lstStyle/>
          <a:p>
            <a:pPr algn="ctr">
              <a:defRPr sz="15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41건의 최고 배수 중앙값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F8E2D9E-4692-42EE-BD3B-D3F092CE5D34}"/>
              </a:ext>
            </a:extLst>
          </p:cNvPr>
          <p:cNvSpPr>
            <a:spLocks noGrp="1"/>
          </p:cNvSpPr>
          <p:nvPr/>
        </p:nvSpPr>
        <p:spPr>
          <a:xfrm>
            <a:off x="7524750" y="4333875"/>
            <a:ext cx="3143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300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rPr>
              <a:t>19.0배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1B034D6-9A0B-48A5-B37C-103085159F97}"/>
              </a:ext>
            </a:extLst>
          </p:cNvPr>
          <p:cNvSpPr>
            <a:spLocks noGrp="1"/>
          </p:cNvSpPr>
          <p:nvPr/>
        </p:nvSpPr>
        <p:spPr>
          <a:xfrm>
            <a:off x="857250" y="5238750"/>
            <a:ext cx="10382250" cy="781050"/>
          </a:xfrm>
          <a:prstGeom prst="roundRect">
            <a:avLst>
              <a:gd name="adj" fmla="val 9756"/>
            </a:avLst>
          </a:prstGeom>
          <a:solidFill>
            <a:srgbClr val="FCEDEC"/>
          </a:solidFill>
          <a:ln w="14288">
            <a:solidFill>
              <a:srgbClr val="E4A5A2"/>
            </a:solidFill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94.03%의 높은 0.03 도달률만 보고 손절 없이 매도하면, 나머지 약 6%에서 손실 규모가 매우 크게 확대될 수 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34ECC32-850B-4566-B100-345326EEB75A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001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entry_15x_non_target_peak_detail.csv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4E03F4-F2DF-44D7-A8C0-6ACA01E96CF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953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09858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A77C77-552A-40D2-A899-F79BEEC42810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최초가격 관측 시각의 1분 단위 분포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268C5DF-523D-4B9E-9B9D-2DBF9F7957EC}"/>
              </a:ext>
            </a:extLst>
          </p:cNvPr>
          <p:cNvSpPr>
            <a:spLocks noGrp="1"/>
          </p:cNvSpPr>
          <p:nvPr/>
        </p:nvSpPr>
        <p:spPr>
          <a:xfrm>
            <a:off x="666750" y="942975"/>
            <a:ext cx="10839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중복 제거 1,320건 · 각 옵션의 가장 이른 관측 사건 하나만 사용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571500" y="1524000"/>
          <a:ext cx="80962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797FFB55-5233-4742-BC7E-7493969DA8A1}"/>
              </a:ext>
            </a:extLst>
          </p:cNvPr>
          <p:cNvSpPr>
            <a:spLocks noGrp="1"/>
          </p:cNvSpPr>
          <p:nvPr/>
        </p:nvSpPr>
        <p:spPr>
          <a:xfrm>
            <a:off x="9191625" y="166687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848"/>
          </a:bodyPr>
          <a:lstStyle/>
          <a:p>
            <a:pPr algn="ctr">
              <a:defRPr sz="16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평균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99ADED-853C-498D-B56C-BD80A12BA2B1}"/>
              </a:ext>
            </a:extLst>
          </p:cNvPr>
          <p:cNvSpPr>
            <a:spLocks noGrp="1"/>
          </p:cNvSpPr>
          <p:nvPr/>
        </p:nvSpPr>
        <p:spPr>
          <a:xfrm>
            <a:off x="9048750" y="2047875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2625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rPr>
              <a:t>09:01:31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45B749-6134-4EC8-A1B3-82746E005DF0}"/>
              </a:ext>
            </a:extLst>
          </p:cNvPr>
          <p:cNvSpPr>
            <a:spLocks noGrp="1"/>
          </p:cNvSpPr>
          <p:nvPr/>
        </p:nvSpPr>
        <p:spPr>
          <a:xfrm>
            <a:off x="9191625" y="304800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848"/>
          </a:bodyPr>
          <a:lstStyle/>
          <a:p>
            <a:pPr algn="ctr">
              <a:defRPr sz="16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중앙값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4729BB-8C6D-46C6-89EF-35024CABE38B}"/>
              </a:ext>
            </a:extLst>
          </p:cNvPr>
          <p:cNvSpPr>
            <a:spLocks noGrp="1"/>
          </p:cNvSpPr>
          <p:nvPr/>
        </p:nvSpPr>
        <p:spPr>
          <a:xfrm>
            <a:off x="9048750" y="3429000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 algn="ctr">
              <a:defRPr sz="28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09:00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0F668B-65F0-4598-89D7-93E59A4AD9FF}"/>
              </a:ext>
            </a:extLst>
          </p:cNvPr>
          <p:cNvSpPr>
            <a:spLocks noGrp="1"/>
          </p:cNvSpPr>
          <p:nvPr/>
        </p:nvSpPr>
        <p:spPr>
          <a:xfrm>
            <a:off x="9191625" y="442912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848"/>
          </a:bodyPr>
          <a:lstStyle/>
          <a:p>
            <a:pPr algn="ctr">
              <a:defRPr sz="16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09:00 비중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0C9E25-D15D-4D50-B9AD-289279B39E16}"/>
              </a:ext>
            </a:extLst>
          </p:cNvPr>
          <p:cNvSpPr>
            <a:spLocks noGrp="1"/>
          </p:cNvSpPr>
          <p:nvPr/>
        </p:nvSpPr>
        <p:spPr>
          <a:xfrm>
            <a:off x="9048750" y="4810125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 algn="ctr">
              <a:defRPr sz="285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59.92%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9B4C3D-168D-4984-93E5-035A4F2EEC91}"/>
              </a:ext>
            </a:extLst>
          </p:cNvPr>
          <p:cNvSpPr>
            <a:spLocks noGrp="1"/>
          </p:cNvSpPr>
          <p:nvPr/>
        </p:nvSpPr>
        <p:spPr>
          <a:xfrm>
            <a:off x="1143000" y="5762625"/>
            <a:ext cx="9906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09:05까지 누적 88.26% · 09:06까지 누적 92.05%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03F9F20-2839-456B-AA58-9F2B0E08A689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001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자료: entry_first_observation_by_minute.csv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312AC6-9A7E-4095-A8E5-0EA904085553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953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7013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425D0D-EBCE-4909-8DE2-7EB2E5C3708D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108966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매도 전략에 주는 시사점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424AFE-BC99-4BFA-9AAF-AD92E7AF8252}"/>
              </a:ext>
            </a:extLst>
          </p:cNvPr>
          <p:cNvSpPr>
            <a:spLocks noGrp="1"/>
          </p:cNvSpPr>
          <p:nvPr/>
        </p:nvSpPr>
        <p:spPr>
          <a:xfrm>
            <a:off x="666750" y="942975"/>
            <a:ext cx="10839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빈도 결과와 꼬리위험을 동시에 반영해야 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10958E-7B75-4276-B7DF-BA34CF4EF8B7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615"/>
          </a:bodyPr>
          <a:lstStyle/>
          <a:p>
            <a:pPr algn="l">
              <a:defRPr sz="195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F6B8A"/>
                </a:solidFill>
                <a:latin typeface="Malgun Gothic"/>
                <a:ea typeface="Malgun Gothic"/>
                <a:cs typeface="Malgun Gothic"/>
              </a:rPr>
              <a:t>시간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5FA952-683E-4549-B9E8-2CB0B06B963F}"/>
              </a:ext>
            </a:extLst>
          </p:cNvPr>
          <p:cNvSpPr>
            <a:spLocks noGrp="1"/>
          </p:cNvSpPr>
          <p:nvPr/>
        </p:nvSpPr>
        <p:spPr>
          <a:xfrm>
            <a:off x="2428875" y="1571625"/>
            <a:ext cx="857250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72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오전에는 목표가 도달이 충분히 진행되지 않는다. 0.03 도달은 12시 이후 크게 늘고, 15시까지 누적률이 80~90%대로 올라간다.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C0A9B0-B6A6-4E31-B352-D4DEF9F9C5B8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615"/>
          </a:bodyPr>
          <a:lstStyle/>
          <a:p>
            <a:pPr algn="l">
              <a:defRPr sz="195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D97735"/>
                </a:solidFill>
                <a:latin typeface="Malgun Gothic"/>
                <a:ea typeface="Malgun Gothic"/>
                <a:cs typeface="Malgun Gothic"/>
              </a:rPr>
              <a:t>반등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234891-B32B-44A6-B016-3C95E7377DFD}"/>
              </a:ext>
            </a:extLst>
          </p:cNvPr>
          <p:cNvSpPr>
            <a:spLocks noGrp="1"/>
          </p:cNvSpPr>
          <p:nvPr/>
        </p:nvSpPr>
        <p:spPr>
          <a:xfrm>
            <a:off x="2428875" y="2714625"/>
            <a:ext cx="8572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72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절반 또는 4분의 1 가격까지 내려온 뒤에도 약 40%가 30분 안에 1.5배 반등했다. 낮은 가격에서의 재매도는 짧은 반등 위험을 포함한다.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817188-C520-4DB5-A885-C28A4DAD88F4}"/>
              </a:ext>
            </a:extLst>
          </p:cNvPr>
          <p:cNvSpPr>
            <a:spLocks noGrp="1"/>
          </p:cNvSpPr>
          <p:nvPr/>
        </p:nvSpPr>
        <p:spPr>
          <a:xfrm>
            <a:off x="857250" y="4048125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615"/>
          </a:bodyPr>
          <a:lstStyle/>
          <a:p>
            <a:pPr algn="l">
              <a:defRPr sz="19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B64D4D"/>
                </a:solidFill>
                <a:latin typeface="Malgun Gothic"/>
                <a:ea typeface="Malgun Gothic"/>
                <a:cs typeface="Malgun Gothic"/>
              </a:rPr>
              <a:t>손절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53F168-7282-4CB9-A7F1-B5FA7DD4F517}"/>
              </a:ext>
            </a:extLst>
          </p:cNvPr>
          <p:cNvSpPr>
            <a:spLocks noGrp="1"/>
          </p:cNvSpPr>
          <p:nvPr/>
        </p:nvSpPr>
        <p:spPr>
          <a:xfrm>
            <a:off x="2428875" y="3905250"/>
            <a:ext cx="8572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72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1.5배까지 상승했다가 다시 하락한 사례의 80% 이상이 15시까지 목표가에 도달했다. 고정 손절은 손실을 제한하지만 되돌림 손실도 만든다.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23060A-222C-4023-A379-FB89FBFF77FA}"/>
              </a:ext>
            </a:extLst>
          </p:cNvPr>
          <p:cNvSpPr>
            <a:spLocks noGrp="1"/>
          </p:cNvSpPr>
          <p:nvPr/>
        </p:nvSpPr>
        <p:spPr>
          <a:xfrm>
            <a:off x="857250" y="5238750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615"/>
          </a:bodyPr>
          <a:lstStyle/>
          <a:p>
            <a:pPr algn="l">
              <a:defRPr sz="1950" b="1">
                <a:solidFill>
                  <a:srgbClr val="2B8C7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B8C7E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6179C16-D4E3-466B-8AE7-FA220DEFB042}"/>
              </a:ext>
            </a:extLst>
          </p:cNvPr>
          <p:cNvSpPr>
            <a:spLocks noGrp="1"/>
          </p:cNvSpPr>
          <p:nvPr/>
        </p:nvSpPr>
        <p:spPr>
          <a:xfrm>
            <a:off x="2428875" y="5095875"/>
            <a:ext cx="8572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72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E2A34"/>
                </a:solidFill>
                <a:latin typeface="Malgun Gothic"/>
                <a:ea typeface="Malgun Gothic"/>
                <a:cs typeface="Malgun Gothic"/>
              </a:rPr>
              <a:t>손절선, 재진입 조건, 청산시간을 한 세트로 검증해야 한다. 0.03 미도달 41건의 80.49%가 10배 이상 상승했고 최대 고점은 72.44배였다.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9DC6B52-78AE-49B6-AAAC-5E2312006BDE}"/>
              </a:ext>
            </a:extLst>
          </p:cNvPr>
          <p:cNvSpPr>
            <a:spLocks noGrp="1"/>
          </p:cNvSpPr>
          <p:nvPr/>
        </p:nvSpPr>
        <p:spPr>
          <a:xfrm>
            <a:off x="647700" y="6477000"/>
            <a:ext cx="100012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l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해석은 본 연구의 관측 빈도에 한정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F9D9D3-4DAB-4CF4-8583-6EDAF4721875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953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/>
          </a:bodyPr>
          <a:lstStyle/>
          <a:p>
            <a:pPr algn="r">
              <a:def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D6B78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48308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138C6BA-A91C-4003-A972-49A16556D239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해석 범위와 다음 검증</a:t>
            </a:r>
          </a:p>
        </p:txBody>
      </p:sp>
      <p:graphicFrame>
        <p:nvGraphicFramePr>
          <p:cNvPr id="8" name="표 7"/>
          <p:cNvGraphicFramePr/>
          <p:nvPr/>
        </p:nvGraphicFramePr>
        <p:xfrm>
          <a:off x="666750" y="1476375"/>
          <a:ext cx="10858500" cy="28575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>
                    <a:solidFill>
                      <a:srgbClr val="2543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연구의 범위</a:t>
                      </a:r>
                    </a:p>
                  </a:txBody>
                  <a:tcPr>
                    <a:solidFill>
                      <a:srgbClr val="2543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검증</a:t>
                      </a:r>
                    </a:p>
                  </a:txBody>
                  <a:tcPr>
                    <a:solidFill>
                      <a:srgbClr val="2543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E8B2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</a:t>
                      </a:r>
                    </a:p>
                  </a:txBody>
                  <a:tcPr>
                    <a:solidFill>
                      <a:srgbClr val="1A32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1분봉 OHLC의 실제 기록값</a:t>
                      </a:r>
                    </a:p>
                  </a:txBody>
                  <a:tcPr>
                    <a:solidFill>
                      <a:srgbClr val="1A32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틱 단위 체결 순서와 호가잔량</a:t>
                      </a:r>
                    </a:p>
                  </a:txBody>
                  <a:tcPr>
                    <a:solidFill>
                      <a:srgbClr val="1A32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E8B2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체결</a:t>
                      </a:r>
                    </a:p>
                  </a:txBody>
                  <a:tcPr>
                    <a:solidFill>
                      <a:srgbClr val="203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목표·손절 가격 도달 여부</a:t>
                      </a:r>
                    </a:p>
                  </a:txBody>
                  <a:tcPr>
                    <a:solidFill>
                      <a:srgbClr val="203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슬리피지, 수수료, 주문 충족률</a:t>
                      </a:r>
                    </a:p>
                  </a:txBody>
                  <a:tcPr>
                    <a:solidFill>
                      <a:srgbClr val="2039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E8B2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</a:t>
                      </a:r>
                    </a:p>
                  </a:txBody>
                  <a:tcPr>
                    <a:solidFill>
                      <a:srgbClr val="1A32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2026년 1~8월 만기일 60일</a:t>
                      </a:r>
                    </a:p>
                  </a:txBody>
                  <a:tcPr>
                    <a:solidFill>
                      <a:srgbClr val="1A32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이후 기간과 시장 국면별 재검증</a:t>
                      </a:r>
                    </a:p>
                  </a:txBody>
                  <a:tcPr>
                    <a:solidFill>
                      <a:srgbClr val="1A32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E8B2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전략</a:t>
                      </a:r>
                    </a:p>
                  </a:txBody>
                  <a:tcPr>
                    <a:solidFill>
                      <a:srgbClr val="203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조건별 발생 빈도와 고점</a:t>
                      </a:r>
                    </a:p>
                  </a:txBody>
                  <a:tcPr>
                    <a:solidFill>
                      <a:srgbClr val="203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일별 동일가중 손익과 최대 낙폭</a:t>
                      </a:r>
                    </a:p>
                  </a:txBody>
                  <a:tcPr>
                    <a:solidFill>
                      <a:srgbClr val="2039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279F3DDA-EA7E-443B-88F2-7C9A8E94F838}"/>
              </a:ext>
            </a:extLst>
          </p:cNvPr>
          <p:cNvSpPr>
            <a:spLocks noGrp="1"/>
          </p:cNvSpPr>
          <p:nvPr/>
        </p:nvSpPr>
        <p:spPr>
          <a:xfrm>
            <a:off x="809625" y="4953000"/>
            <a:ext cx="1333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000"/>
          </a:bodyPr>
          <a:lstStyle/>
          <a:p>
            <a:pPr algn="l">
              <a:defRPr sz="1875" b="1">
                <a:solidFill>
                  <a:srgbClr val="E8B27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B27A"/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C49C550-4F96-4928-8DDD-EBC4B953C65D}"/>
              </a:ext>
            </a:extLst>
          </p:cNvPr>
          <p:cNvSpPr>
            <a:spLocks noGrp="1"/>
          </p:cNvSpPr>
          <p:nvPr/>
        </p:nvSpPr>
        <p:spPr>
          <a:xfrm>
            <a:off x="2143125" y="4810125"/>
            <a:ext cx="8858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목표가 도달 빈도는 높았지만, 그 과정의 반등과 극단 고점이 크다. 다음 단계는 청산시간과 손절·재진입 규칙을 포함한 순손익 검증이다.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1AE047-2F80-4D76-86E1-659D6A5582D1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l">
              <a:defRPr sz="1050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rPr>
              <a:t>원자료 및 분석 산출물: D:/매매일지/KRX/Codex/expiry_morning_decay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D4453A-8588-450C-ACAE-11B7C179864F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 algn="r">
              <a:defRPr sz="1050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FC2D0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0850207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1957</Words>
  <Application>Microsoft Office PowerPoint</Application>
  <DocSecurity>0</DocSecurity>
  <PresentationFormat>와이드스크린</PresentationFormat>
  <Paragraphs>324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준성 맹</cp:lastModifiedBy>
  <cp:revision>1</cp:revision>
  <dcterms:created xsi:type="dcterms:W3CDTF">2026-09-23T09:47:46Z</dcterms:created>
  <dcterms:modified xsi:type="dcterms:W3CDTF">2026-09-27T23:23:39Z</dcterms:modified>
</cp:coreProperties>
</file>