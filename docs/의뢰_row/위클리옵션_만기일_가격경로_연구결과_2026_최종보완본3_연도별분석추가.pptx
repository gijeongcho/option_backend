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957deed0a04c41" /><Relationship Type="http://schemas.openxmlformats.org/officeDocument/2006/relationships/extended-properties" Target="/docProps/app.xml" Id="R1991c9a896604e5d" /><Relationship Type="http://schemas.openxmlformats.org/officeDocument/2006/relationships/officeDocument" Target="/ppt/presentation.xml" Id="R13b893e96e3c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76f93c15c5444e"/>
  </p:sldMasterIdLst>
  <p:notesMasterIdLst>
    <p:notesMasterId xmlns:r="http://schemas.openxmlformats.org/officeDocument/2006/relationships" r:id="R74f762a685884efa"/>
  </p:notesMasterIdLst>
  <p:sldIdLst>
    <p:sldId xmlns:r="http://schemas.openxmlformats.org/officeDocument/2006/relationships" id="256" r:id="R1db76734bc284529"/>
    <p:sldId xmlns:r="http://schemas.openxmlformats.org/officeDocument/2006/relationships" id="257" r:id="R74633e31fe384899"/>
    <p:sldId xmlns:r="http://schemas.openxmlformats.org/officeDocument/2006/relationships" id="258" r:id="R99b8287824554672"/>
    <p:sldId xmlns:r="http://schemas.openxmlformats.org/officeDocument/2006/relationships" id="259" r:id="Rb334d0cfc5e64b93"/>
    <p:sldId xmlns:r="http://schemas.openxmlformats.org/officeDocument/2006/relationships" id="260" r:id="R73743b37a8f84f1a"/>
    <p:sldId xmlns:r="http://schemas.openxmlformats.org/officeDocument/2006/relationships" id="261" r:id="Ra2f136b766244757"/>
    <p:sldId xmlns:r="http://schemas.openxmlformats.org/officeDocument/2006/relationships" id="262" r:id="R205834871d534c25"/>
    <p:sldId xmlns:r="http://schemas.openxmlformats.org/officeDocument/2006/relationships" id="263" r:id="R4f94321244df4871"/>
    <p:sldId xmlns:r="http://schemas.openxmlformats.org/officeDocument/2006/relationships" id="264" r:id="R2bab2ed24c024841"/>
    <p:sldId xmlns:r="http://schemas.openxmlformats.org/officeDocument/2006/relationships" id="265" r:id="R04231474277742f3"/>
    <p:sldId xmlns:r="http://schemas.openxmlformats.org/officeDocument/2006/relationships" id="266" r:id="R3de322dea1ab466d"/>
    <p:sldId xmlns:r="http://schemas.openxmlformats.org/officeDocument/2006/relationships" id="267" r:id="Rdc69e8e93ef2486b"/>
    <p:sldId xmlns:r="http://schemas.openxmlformats.org/officeDocument/2006/relationships" id="268" r:id="Ra0f21c305e084887"/>
    <p:sldId xmlns:r="http://schemas.openxmlformats.org/officeDocument/2006/relationships" id="269" r:id="Rb784cc09a97a4b53"/>
    <p:sldId xmlns:r="http://schemas.openxmlformats.org/officeDocument/2006/relationships" id="270" r:id="R45827793e32e4133"/>
    <p:sldId xmlns:r="http://schemas.openxmlformats.org/officeDocument/2006/relationships" id="271" r:id="R641da0fd9a0543c9"/>
    <p:sldId xmlns:r="http://schemas.openxmlformats.org/officeDocument/2006/relationships" id="272" r:id="Rf6b26763af464f11"/>
    <p:sldId xmlns:r="http://schemas.openxmlformats.org/officeDocument/2006/relationships" id="273" r:id="Ra0841167cc8345c1"/>
    <p:sldId xmlns:r="http://schemas.openxmlformats.org/officeDocument/2006/relationships" id="274" r:id="Rb82c8e4511fc44f8"/>
    <p:sldId xmlns:r="http://schemas.openxmlformats.org/officeDocument/2006/relationships" id="275" r:id="Re1ef4e8fe790416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29420e7374a9a" /><Relationship Type="http://schemas.openxmlformats.org/officeDocument/2006/relationships/slideMaster" Target="/ppt/slideMasters/slideMaster1.xml" Id="Rf176f93c15c5444e" /><Relationship Type="http://schemas.openxmlformats.org/officeDocument/2006/relationships/notesMaster" Target="/ppt/notesMasters/notesMaster1.xml" Id="R74f762a685884efa" /><Relationship Type="http://schemas.openxmlformats.org/officeDocument/2006/relationships/presProps" Target="/ppt/presProps.xml" Id="R69c87a8532654122" /><Relationship Type="http://schemas.openxmlformats.org/officeDocument/2006/relationships/viewProps" Target="/ppt/viewProps.xml" Id="R4cd4341653f84a94" /><Relationship Type="http://schemas.openxmlformats.org/officeDocument/2006/relationships/tableStyles" Target="/ppt/tableStyles.xml" Id="Re59bf75418cf4fc2" /><Relationship Type="http://schemas.openxmlformats.org/officeDocument/2006/relationships/slide" Target="/ppt/slides/slide1.xml" Id="R1db76734bc284529" /><Relationship Type="http://schemas.openxmlformats.org/officeDocument/2006/relationships/slide" Target="/ppt/slides/slide2.xml" Id="R74633e31fe384899" /><Relationship Type="http://schemas.openxmlformats.org/officeDocument/2006/relationships/slide" Target="/ppt/slides/slide3.xml" Id="R99b8287824554672" /><Relationship Type="http://schemas.openxmlformats.org/officeDocument/2006/relationships/slide" Target="/ppt/slides/slide4.xml" Id="Rb334d0cfc5e64b93" /><Relationship Type="http://schemas.openxmlformats.org/officeDocument/2006/relationships/slide" Target="/ppt/slides/slide5.xml" Id="R73743b37a8f84f1a" /><Relationship Type="http://schemas.openxmlformats.org/officeDocument/2006/relationships/slide" Target="/ppt/slides/slide6.xml" Id="Ra2f136b766244757" /><Relationship Type="http://schemas.openxmlformats.org/officeDocument/2006/relationships/slide" Target="/ppt/slides/slide7.xml" Id="R205834871d534c25" /><Relationship Type="http://schemas.openxmlformats.org/officeDocument/2006/relationships/slide" Target="/ppt/slides/slide8.xml" Id="R4f94321244df4871" /><Relationship Type="http://schemas.openxmlformats.org/officeDocument/2006/relationships/slide" Target="/ppt/slides/slide9.xml" Id="R2bab2ed24c024841" /><Relationship Type="http://schemas.openxmlformats.org/officeDocument/2006/relationships/slide" Target="/ppt/slides/slide10.xml" Id="R04231474277742f3" /><Relationship Type="http://schemas.openxmlformats.org/officeDocument/2006/relationships/slide" Target="/ppt/slides/slide11.xml" Id="R3de322dea1ab466d" /><Relationship Type="http://schemas.openxmlformats.org/officeDocument/2006/relationships/slide" Target="/ppt/slides/slide12.xml" Id="Rdc69e8e93ef2486b" /><Relationship Type="http://schemas.openxmlformats.org/officeDocument/2006/relationships/slide" Target="/ppt/slides/slide13.xml" Id="Ra0f21c305e084887" /><Relationship Type="http://schemas.openxmlformats.org/officeDocument/2006/relationships/slide" Target="/ppt/slides/slide14.xml" Id="Rb784cc09a97a4b53" /><Relationship Type="http://schemas.openxmlformats.org/officeDocument/2006/relationships/slide" Target="/ppt/slides/slide15.xml" Id="R45827793e32e4133" /><Relationship Type="http://schemas.openxmlformats.org/officeDocument/2006/relationships/slide" Target="/ppt/slides/slide16.xml" Id="R641da0fd9a0543c9" /><Relationship Type="http://schemas.openxmlformats.org/officeDocument/2006/relationships/slide" Target="/ppt/slides/slide17.xml" Id="Rf6b26763af464f11" /><Relationship Type="http://schemas.openxmlformats.org/officeDocument/2006/relationships/slide" Target="/ppt/slides/slide18.xml" Id="Ra0841167cc8345c1" /><Relationship Type="http://schemas.openxmlformats.org/officeDocument/2006/relationships/slide" Target="/ppt/slides/slide19.xml" Id="Rb82c8e4511fc44f8" /><Relationship Type="http://schemas.openxmlformats.org/officeDocument/2006/relationships/slide" Target="/ppt/slides/slide20.xml" Id="Re1ef4e8fe790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c80b6b03e4e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5ed1b32cac491d" /><Relationship Type="http://schemas.openxmlformats.org/officeDocument/2006/relationships/notesMaster" Target="/ppt/notesMasters/notesMaster1.xml" Id="R0f7f99f6b4d0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3b62937dd14eeb" /><Relationship Type="http://schemas.openxmlformats.org/officeDocument/2006/relationships/notesMaster" Target="/ppt/notesMasters/notesMaster1.xml" Id="R3728c7c5add4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11af0731654894" /><Relationship Type="http://schemas.openxmlformats.org/officeDocument/2006/relationships/notesMaster" Target="/ppt/notesMasters/notesMaster1.xml" Id="Rb2545973584d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04f38a160a41f2" /><Relationship Type="http://schemas.openxmlformats.org/officeDocument/2006/relationships/notesMaster" Target="/ppt/notesMasters/notesMaster1.xml" Id="R2a63fb2b4e44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476e89d824a86" /><Relationship Type="http://schemas.openxmlformats.org/officeDocument/2006/relationships/notesMaster" Target="/ppt/notesMasters/notesMaster1.xml" Id="R87609562ac8c4c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cea07b396420d" /><Relationship Type="http://schemas.openxmlformats.org/officeDocument/2006/relationships/notesMaster" Target="/ppt/notesMasters/notesMaster1.xml" Id="R9c194a574e4842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caa20e21fb497b" /><Relationship Type="http://schemas.openxmlformats.org/officeDocument/2006/relationships/notesMaster" Target="/ppt/notesMasters/notesMaster1.xml" Id="Rc0263b1ac10c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3074333d04674" /><Relationship Type="http://schemas.openxmlformats.org/officeDocument/2006/relationships/notesMaster" Target="/ppt/notesMasters/notesMaster1.xml" Id="R00bceb1199b6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c4605cc73b4c23" /><Relationship Type="http://schemas.openxmlformats.org/officeDocument/2006/relationships/notesMaster" Target="/ppt/notesMasters/notesMaster1.xml" Id="R5ed43354a0b3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0b5c369e104f6c" /><Relationship Type="http://schemas.openxmlformats.org/officeDocument/2006/relationships/notesMaster" Target="/ppt/notesMasters/notesMaster1.xml" Id="Rbd15dcf917b8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8c978090ca4b25" /><Relationship Type="http://schemas.openxmlformats.org/officeDocument/2006/relationships/notesMaster" Target="/ppt/notesMasters/notesMaster1.xml" Id="R9a4e4820d55047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d87eac40f74619" /><Relationship Type="http://schemas.openxmlformats.org/officeDocument/2006/relationships/notesMaster" Target="/ppt/notesMasters/notesMaster1.xml" Id="Rb64b0082725640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89e193397b4599" /><Relationship Type="http://schemas.openxmlformats.org/officeDocument/2006/relationships/notesMaster" Target="/ppt/notesMasters/notesMaster1.xml" Id="Rc6605a353206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0e75e1f73d4187" /><Relationship Type="http://schemas.openxmlformats.org/officeDocument/2006/relationships/notesMaster" Target="/ppt/notesMasters/notesMaster1.xml" Id="R685744c331fb4e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1a20bd8f4743df" /><Relationship Type="http://schemas.openxmlformats.org/officeDocument/2006/relationships/notesMaster" Target="/ppt/notesMasters/notesMaster1.xml" Id="R5019799738664f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2aade2fcce4ba9" /><Relationship Type="http://schemas.openxmlformats.org/officeDocument/2006/relationships/notesMaster" Target="/ppt/notesMasters/notesMaster1.xml" Id="Rb0e9f3cc5c0844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8c5e4d99e04c25" /><Relationship Type="http://schemas.openxmlformats.org/officeDocument/2006/relationships/notesMaster" Target="/ppt/notesMasters/notesMaster1.xml" Id="R8b396f0dc04440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9fd3c712fc4e59" /><Relationship Type="http://schemas.openxmlformats.org/officeDocument/2006/relationships/notesMaster" Target="/ppt/notesMasters/notesMaster1.xml" Id="Rbb3973f13cce4f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bbc91383bf4bf2" /><Relationship Type="http://schemas.openxmlformats.org/officeDocument/2006/relationships/notesMaster" Target="/ppt/notesMasters/notesMaster1.xml" Id="R229b70a24e3b44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33827e17d04c22" /><Relationship Type="http://schemas.openxmlformats.org/officeDocument/2006/relationships/notesMaster" Target="/ppt/notesMasters/notesMaster1.xml" Id="R359c5ad750af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범위: 2026-01-05~2026-08-31, 만기일 60일.</a:t>
            </a:r>
          </a:p>
          <a:p xmlns:a="http://schemas.openxmlformats.org/drawingml/2006/main">
            <a:r>
              <a:t>원자료: KRX 위클리 옵션 1분봉 ZIP 4개. 상세 체크섬은 각 분석 metadata.json에 기록.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규칙: 위클리옵션_오류교훈_및_검증규칙.md.</a:t>
            </a:r>
          </a:p>
          <a:p xmlns:a="http://schemas.openxmlformats.org/drawingml/2006/main">
            <a:r>
              <a:t>모든 결과는 가격 경로 발생 빈도이며 수수료, 슬리피지, 실제 체결 가능성을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0.40~0.60: 12시 전 462/877, 15시까지 776/877.</a:t>
            </a:r>
          </a:p>
          <a:p xmlns:a="http://schemas.openxmlformats.org/drawingml/2006/main">
            <a:r>
              <a:t>0.60~0.80: 12시 전 332/792, 15시까지 678/792.</a:t>
            </a:r>
          </a:p>
          <a:p xmlns:a="http://schemas.openxmlformats.org/drawingml/2006/main">
            <a:r>
              <a:t>정확히 0.03이 OHLC에 기록된 사례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조건: 밴드 상단 돌파 후 다른 1분봉에서 원래 밴드 안 실제 OHLC 값 재관측, 이후 다른 봉에서 0.03.</a:t>
            </a:r>
          </a:p>
          <a:p xmlns:a="http://schemas.openxmlformats.org/drawingml/2006/main">
            <a:r>
              <a:t>0.40~0.60: 12시 전 270/641, 15시까지 549/649.</a:t>
            </a:r>
          </a:p>
          <a:p xmlns:a="http://schemas.openxmlformats.org/drawingml/2006/main">
            <a:r>
              <a:t>0.60~0.80: 12시 전 216/621, 15시까지 516/624.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1.5배 기준: 진입 관측가격×1.5를 호가단위로 올림.</a:t>
            </a:r>
          </a:p>
          <a:p xmlns:a="http://schemas.openxmlformats.org/drawingml/2006/main">
            <a:r>
              <a:t>순서: 진입 &lt; 1.5배 상승 &lt; 구간 하단 이탈 &lt; 정확히 0.03.</a:t>
            </a:r>
          </a:p>
          <a:p xmlns:a="http://schemas.openxmlformats.org/drawingml/2006/main">
            <a:r>
              <a:t>최대 고점은 0.03 성공 사례 중 재하락 전 고점의 최댓값.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비율 분모는 각 시각까지 중간 단계에 도달한 사례.</a:t>
            </a:r>
          </a:p>
          <a:p xmlns:a="http://schemas.openxmlformats.org/drawingml/2006/main">
            <a:r>
              <a:t>절반가격은 진입가격×50%, 4분의 1은 진입가격×25% 이하 저가.</a:t>
            </a:r>
          </a:p>
          <a:p xmlns:a="http://schemas.openxmlformats.org/drawingml/2006/main">
            <a:r>
              <a:t>목표는 중간 단계 도달 이후 다른 1분봉의 정확한 OHLC 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반등 기준: 절반가격 도달 다음 봉부터 30분 이내 고가가 절반가격×1.5 이상.</a:t>
            </a:r>
          </a:p>
          <a:p xmlns:a="http://schemas.openxmlformats.org/drawingml/2006/main">
            <a:r>
              <a:t>같은 봉의 순서가 애매한 사례는 주 반등 건수에서 제외.</a:t>
            </a:r>
          </a:p>
          <a:p xmlns:a="http://schemas.openxmlformats.org/drawingml/2006/main">
            <a:r>
              <a:t>중복 제거 총합은 옵션별 가장 이른 절반가격 사건 하나만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4분의 1 가격은 진입가격×25%. 반등 기준은 그 가격×1.5, 즉 진입가격×37.5%.</a:t>
            </a:r>
          </a:p>
          <a:p xmlns:a="http://schemas.openxmlformats.org/drawingml/2006/main">
            <a:r>
              <a:t>장 마감 누적 816건 중 반등 331건.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633건은 최초 관측 다음 분부터 30분 이내 고가가 1.5배 이상인 사례. 유지 여부는 판정하지 않음.</a:t>
            </a:r>
          </a:p>
          <a:p xmlns:a="http://schemas.openxmlformats.org/drawingml/2006/main">
            <a:r>
              <a:t>687건은 다음 분부터 30분 내 미도달 650건과 같은 진입 분봉 순서 불명 37건의 합계.</a:t>
            </a:r>
          </a:p>
          <a:p xmlns:a="http://schemas.openxmlformats.org/drawingml/2006/main">
            <a:r>
              <a:t>37건 중 31건은 0.03 도달, 6건은 미도달. 41건은 확정 미상승 35건과 순서 불명 6건의 합계.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배타 구간: 1.5~2배 미만 153건, 2~5배 미만 262건, 5~10배 미만 92건, 10배 이상 126건.</a:t>
            </a:r>
          </a:p>
          <a:p xmlns:a="http://schemas.openxmlformats.org/drawingml/2006/main">
            <a:r>
              <a:t>최고 배수: 2026-07-13, 09:03 최초 0.70, 09:05 1.5배 도달, 14:31 고가 60.25, 86.07143배.</a:t>
            </a:r>
          </a:p>
          <a:p xmlns:a="http://schemas.openxmlformats.org/drawingml/2006/main">
            <a:r>
              <a:t>절대가격 최고: 최초 1.14, 고가 74.00, 64.91228배. 도달은 고가가 한 번 닿은 기준이며 유지 여부는 조사하지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조건: 최초 관측 다음 봉부터 30분 이내 고가가 최초가격×1.5 미만.</a:t>
            </a:r>
          </a:p>
          <a:p xmlns:a="http://schemas.openxmlformats.org/drawingml/2006/main">
            <a:r>
              <a:t>시간축은 0.03 도달 시각. 30분 상승 판정은 약 09:40까지 완료.</a:t>
            </a:r>
          </a:p>
          <a:p xmlns:a="http://schemas.openxmlformats.org/drawingml/2006/main">
            <a:r>
              <a:t>엄격 기준은 같은 진입 봉의 순서가 애매한 사례를 미상승에서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대상: 중복 제거 687건 중 30분 내 1.5배 미상승이며 장 마감까지 정확히 0.03을 기록하지 않은 41건.</a:t>
            </a:r>
          </a:p>
          <a:p xmlns:a="http://schemas.openxmlformats.org/drawingml/2006/main">
            <a:r>
              <a:t>배타 구간: 2배 미만 1건, 2~5배 미만 4건, 5~10배 미만 3건, 10배 이상 33건.</a:t>
            </a:r>
          </a:p>
          <a:p xmlns:a="http://schemas.openxmlformats.org/drawingml/2006/main">
            <a:r>
              <a:t>엄격 기준: 같은 진입 봉 순서 불명 6건을 제외한 35건 중 30건(85.71%)이 10배 이상.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최고 배수 사례: 2026-07-13 KR4CAFBMA447, 최초 0.43, 14:30 고가 31.15, 72.44186배.</a:t>
            </a:r>
          </a:p>
          <a:p xmlns:a="http://schemas.openxmlformats.org/drawingml/2006/main">
            <a:r>
              <a:t>절대가격 최고 사례: 최초 1.13, 고가 50.00, 44.24779배. 이 사례는 같은 진입 봉의 사건 순서가 불명확한 6건 중 하나.</a:t>
            </a:r>
          </a:p>
          <a:p xmlns:a="http://schemas.openxmlformats.org/drawingml/2006/main">
            <a:r>
              <a:t>41건 최고 배수 중앙값 19.0배. 엄격 표본에서도 최대 배수는 72.44배.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분별 건수: 791, 160, 79, 50, 40, 45, 50, 36, 29, 25, 15. 합계 1,320건.</a:t>
            </a:r>
          </a:p>
          <a:p xmlns:a="http://schemas.openxmlformats.org/drawingml/2006/main">
            <a:r>
              <a:t>가중평균 최초 관측 시각 약 09:01:31, 중앙값과 최빈값은 09:00.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연구 결과의 실전 해석. 수익성 또는 투자 권유 결론이 아님.</a:t>
            </a:r>
          </a:p>
          <a:p xmlns:a="http://schemas.openxmlformats.org/drawingml/2006/main">
            <a:r>
              <a:t>근거: reentry_decay_summary.csv, half_rebound_30m_summary.csv, entry_15x_failure_target03_summary.csv.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제한: 1분봉 내부 순서 불명, 실제 체결비용 미반영, 표본 기간 2026년 1~8월.</a:t>
            </a:r>
          </a:p>
          <a:p xmlns:a="http://schemas.openxmlformats.org/drawingml/2006/main">
            <a:r>
              <a:t>다음 연구 권장: 손절·재진입·시간청산을 결합한 일별 동일가중 백테스트와 검증 구간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날짜 기준: 해당 만기일에 만기인 옵션 중 하나라도 기준 배수에 도달하면 그 날짜를 충족으로 집계.</a:t>
            </a:r>
          </a:p>
          <a:p xmlns:a="http://schemas.openxmlformats.org/drawingml/2006/main">
            <a:r>
              <a:t>개별 옵션 기준 통계는 이 추가 보고서에서 제외.</a:t>
            </a:r>
          </a:p>
          <a:p xmlns:a="http://schemas.openxmlformats.org/drawingml/2006/main">
            <a:r>
              <a:t>원자료: expiry_date_results.csv, year_threshold_date_summary.csv.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282일 중 2배 282일, 3배 282일, 4배 281일, 5배 278일, 10배 205일.</a:t>
            </a:r>
          </a:p>
          <a:p xmlns:a="http://schemas.openxmlformats.org/drawingml/2006/main">
            <a:r>
              <a:t>동일 1분봉 내부의 저가·고가 순서는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2023년은 8월 3일부터 12월 말까지 38일, 2026년은 8월 31일까지 60일.</a:t>
            </a:r>
          </a:p>
          <a:p xmlns:a="http://schemas.openxmlformats.org/drawingml/2006/main">
            <a:r>
              <a:t>비율은 각 연도 또는 부분연도의 유효 만기일 수를 분모로 계산.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5배 미도달일은 4일. 4배 미도달일은 2023-08-28 한 차례.</a:t>
            </a:r>
          </a:p>
          <a:p xmlns:a="http://schemas.openxmlformats.org/drawingml/2006/main">
            <a:r>
              <a:t>비정상 OHLC·거래량 6행이 포함된 6종목을 제외했으며 모든 날짜에 유효 종목이 남음.</a:t>
            </a:r>
          </a:p>
          <a:p xmlns:a="http://schemas.openxmlformats.org/drawingml/2006/main">
            <a:r>
              <a:t>날짜별 결과이며 개별 옵션 도달률은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dd4bbdf784c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55babddea54d27" /><Relationship Type="http://schemas.openxmlformats.org/officeDocument/2006/relationships/slideLayout" Target="/ppt/slideLayouts/slideLayout1.xml" Id="Rebea23882d7f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ea23882d7f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b95093132464d" /><Relationship Type="http://schemas.openxmlformats.org/officeDocument/2006/relationships/notesSlide" Target="/ppt/notesSlides/notesSlide1.xml" Id="R6a93b26311a4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390c73064432b" /><Relationship Type="http://schemas.openxmlformats.org/officeDocument/2006/relationships/notesSlide" Target="/ppt/notesSlides/notesSlide2.xml" Id="R678aee868b9c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b428934914e06" /><Relationship Type="http://schemas.openxmlformats.org/officeDocument/2006/relationships/chart" Target="/ppt/slides/charts/chart1.xml" Id="Rf29d7a291bb5465c" /><Relationship Type="http://schemas.openxmlformats.org/officeDocument/2006/relationships/notesSlide" Target="/ppt/notesSlides/notesSlide3.xml" Id="Re3191e97258c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5ac0c8def4357" /><Relationship Type="http://schemas.openxmlformats.org/officeDocument/2006/relationships/chart" Target="/ppt/slides/charts/chart2.xml" Id="R3dbe6c7900ee47a9" /><Relationship Type="http://schemas.openxmlformats.org/officeDocument/2006/relationships/notesSlide" Target="/ppt/notesSlides/notesSlide4.xml" Id="Rdfeb2a5fd014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2eb24131346fe" /><Relationship Type="http://schemas.openxmlformats.org/officeDocument/2006/relationships/notesSlide" Target="/ppt/notesSlides/notesSlide5.xml" Id="R085b18cdacef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46fe7e4264abc" /><Relationship Type="http://schemas.openxmlformats.org/officeDocument/2006/relationships/notesSlide" Target="/ppt/notesSlides/notesSlide6.xml" Id="R012a3767b9c7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d4a3f18594786" /><Relationship Type="http://schemas.openxmlformats.org/officeDocument/2006/relationships/chart" Target="/ppt/slides/charts/chart3.xml" Id="Rb0a366a484b84777" /><Relationship Type="http://schemas.openxmlformats.org/officeDocument/2006/relationships/notesSlide" Target="/ppt/notesSlides/notesSlide7.xml" Id="Rd45e26297ad54a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2b2259faa40ad" /><Relationship Type="http://schemas.openxmlformats.org/officeDocument/2006/relationships/chart" Target="/ppt/slides/charts/chart4.xml" Id="Rdd5e70c6171f422a" /><Relationship Type="http://schemas.openxmlformats.org/officeDocument/2006/relationships/notesSlide" Target="/ppt/notesSlides/notesSlide8.xml" Id="R79225874de6a42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c69f055264af3" /><Relationship Type="http://schemas.openxmlformats.org/officeDocument/2006/relationships/notesSlide" Target="/ppt/notesSlides/notesSlide9.xml" Id="R12f938fd593b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5c77412d74dd0" /><Relationship Type="http://schemas.openxmlformats.org/officeDocument/2006/relationships/chart" Target="/ppt/slides/charts/chart5.xml" Id="Rdb976aab914145e8" /><Relationship Type="http://schemas.openxmlformats.org/officeDocument/2006/relationships/notesSlide" Target="/ppt/notesSlides/notesSlide10.xml" Id="R80547d81775a4c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54c8633dc409c" /><Relationship Type="http://schemas.openxmlformats.org/officeDocument/2006/relationships/chart" Target="/ppt/slides/charts/chart6.xml" Id="R51c5c931188d4b63" /><Relationship Type="http://schemas.openxmlformats.org/officeDocument/2006/relationships/notesSlide" Target="/ppt/notesSlides/notesSlide11.xml" Id="R95aff00ee0ab4d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a806e067442d" /><Relationship Type="http://schemas.openxmlformats.org/officeDocument/2006/relationships/chart" Target="/ppt/slides/charts/chart7.xml" Id="R92a06dbf427c46d9" /><Relationship Type="http://schemas.openxmlformats.org/officeDocument/2006/relationships/notesSlide" Target="/ppt/notesSlides/notesSlide12.xml" Id="R50c533ec4db944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1f629bde94c88" /><Relationship Type="http://schemas.openxmlformats.org/officeDocument/2006/relationships/notesSlide" Target="/ppt/notesSlides/notesSlide13.xml" Id="Raf7d953b717e4d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2e75c01cd4b0f" /><Relationship Type="http://schemas.openxmlformats.org/officeDocument/2006/relationships/chart" Target="/ppt/slides/charts/chart8.xml" Id="R6bf4a69590f840ba" /><Relationship Type="http://schemas.openxmlformats.org/officeDocument/2006/relationships/notesSlide" Target="/ppt/notesSlides/notesSlide14.xml" Id="R2d7a58de33aa4b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4235b8874bd7" /><Relationship Type="http://schemas.openxmlformats.org/officeDocument/2006/relationships/notesSlide" Target="/ppt/notesSlides/notesSlide15.xml" Id="Ree6c48c892494a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42fe17bea4da6" /><Relationship Type="http://schemas.openxmlformats.org/officeDocument/2006/relationships/notesSlide" Target="/ppt/notesSlides/notesSlide16.xml" Id="R0e7e9d3af14e4b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1bfed23a74a75" /><Relationship Type="http://schemas.openxmlformats.org/officeDocument/2006/relationships/notesSlide" Target="/ppt/notesSlides/notesSlide17.xml" Id="Rd15254a50c7d43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a3eb7c704403b" /><Relationship Type="http://schemas.openxmlformats.org/officeDocument/2006/relationships/chart" Target="/ppt/slides/charts/chart9.xml" Id="R84697e032458422a" /><Relationship Type="http://schemas.openxmlformats.org/officeDocument/2006/relationships/notesSlide" Target="/ppt/notesSlides/notesSlide18.xml" Id="Ra59c5d4245a54a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16bba629e44ef" /><Relationship Type="http://schemas.openxmlformats.org/officeDocument/2006/relationships/notesSlide" Target="/ppt/notesSlides/notesSlide19.xml" Id="Rdcc2c2ff790048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8e61daec34b8a" /><Relationship Type="http://schemas.openxmlformats.org/officeDocument/2006/relationships/chart" Target="/ppt/slides/charts/chart10.xml" Id="Rdf11ea24750f40a7" /><Relationship Type="http://schemas.openxmlformats.org/officeDocument/2006/relationships/notesSlide" Target="/ppt/notesSlides/notesSlide20.xml" Id="R4fc55ef4b7724941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12시 전</c:v>
          </c:tx>
          <c:spPr>
            <a:solidFill xmlns:a="http://schemas.openxmlformats.org/drawingml/2006/main">
              <a:srgbClr val="2F6B8A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0.5268</c:v>
              </c:pt>
              <c:pt idx="1">
                <c:v>0.4192</c:v>
              </c:pt>
            </c:numLit>
          </c:val>
        </c:ser>
        <c:ser>
          <c:idx val="1"/>
          <c:order val="1"/>
          <c:tx>
            <c:v>15시까지</c:v>
          </c:tx>
          <c:spPr>
            <a:solidFill xmlns:a="http://schemas.openxmlformats.org/drawingml/2006/main">
              <a:srgbClr val="2B8C7E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0.8848</c:v>
              </c:pt>
              <c:pt idx="1">
                <c:v>0.8561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D6B78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12시 전</c:v>
          </c:tx>
          <c:spPr>
            <a:solidFill xmlns:a="http://schemas.openxmlformats.org/drawingml/2006/main">
              <a:srgbClr val="D97735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0.4212</c:v>
              </c:pt>
              <c:pt idx="1">
                <c:v>0.3478</c:v>
              </c:pt>
            </c:numLit>
          </c:val>
        </c:ser>
        <c:ser>
          <c:idx val="1"/>
          <c:order val="1"/>
          <c:tx>
            <c:v>15시까지</c:v>
          </c:tx>
          <c:spPr>
            <a:solidFill xmlns:a="http://schemas.openxmlformats.org/drawingml/2006/main">
              <a:srgbClr val="2F6B8A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0.8459</c:v>
              </c:pt>
              <c:pt idx="1">
                <c:v>0.8269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algun Gothic"/>
              <a:ea typeface="Malgun Gothic"/>
              <a:cs typeface="Malgun Gothic"/>
            </a:defRPr>
          </a:pPr>
        </a:p>
      </c:txPr>
    </c:legend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장 마감 누적</c:v>
          </c:tx>
          <c:spPr>
            <a:solidFill xmlns:a="http://schemas.openxmlformats.org/drawingml/2006/main">
              <a:srgbClr val="D97735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0.40~0.60</c:v>
              </c:pt>
              <c:pt idx="1">
                <c:v>0.70~0.90</c:v>
              </c:pt>
              <c:pt idx="2">
                <c:v>1.00~1.20</c:v>
              </c:pt>
            </c:strLit>
          </c:cat>
          <c:val>
            <c:numLit>
              <c:formatCode>0.0%</c:formatCode>
              <c:ptCount val="3"/>
              <c:pt idx="0">
                <c:v>0.4087</c:v>
              </c:pt>
              <c:pt idx="1">
                <c:v>0.4249</c:v>
              </c:pt>
              <c:pt idx="2">
                <c:v>0.3973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반등률</c:v>
          </c:tx>
          <c:spPr>
            <a:ln xmlns:a="http://schemas.openxmlformats.org/drawingml/2006/main" w="38100">
              <a:solidFill>
                <a:srgbClr val="2F6B8A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F6B8A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12시 전</c:v>
              </c:pt>
              <c:pt idx="1">
                <c:v>13시</c:v>
              </c:pt>
              <c:pt idx="2">
                <c:v>14시</c:v>
              </c:pt>
              <c:pt idx="3">
                <c:v>15시</c:v>
              </c:pt>
              <c:pt idx="4">
                <c:v>장 마감</c:v>
              </c:pt>
            </c:strLit>
          </c:cat>
          <c:val>
            <c:numLit>
              <c:formatCode>0.0%</c:formatCode>
              <c:ptCount val="5"/>
              <c:pt idx="0">
                <c:v>0.3978</c:v>
              </c:pt>
              <c:pt idx="1">
                <c:v>0.3997</c:v>
              </c:pt>
              <c:pt idx="2">
                <c:v>0.3967</c:v>
              </c:pt>
              <c:pt idx="3">
                <c:v>0.4054</c:v>
              </c:pt>
              <c:pt idx="4">
                <c:v>0.4056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0.45"/>
          <c:min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 xmlns:a="http://schemas.openxmlformats.org/drawingml/2006/main">
              <a:srgbClr val="2F6B8A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1.5~2배 미만</c:v>
              </c:pt>
              <c:pt idx="1">
                <c:v>2~5배 미만</c:v>
              </c:pt>
              <c:pt idx="2">
                <c:v>5~10배 미만</c:v>
              </c:pt>
              <c:pt idx="3">
                <c:v>10배 이상</c:v>
              </c:pt>
            </c:strLit>
          </c:cat>
          <c:val>
            <c:numLit>
              <c:formatCode>0</c:formatCode>
              <c:ptCount val="4"/>
              <c:pt idx="0">
                <c:v>153</c:v>
              </c:pt>
              <c:pt idx="1">
                <c:v>262</c:v>
              </c:pt>
              <c:pt idx="2">
                <c:v>92</c:v>
              </c:pt>
              <c:pt idx="3">
                <c:v>126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2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0.03 누적 도달률</c:v>
          </c:tx>
          <c:spPr>
            <a:ln xmlns:a="http://schemas.openxmlformats.org/drawingml/2006/main" w="38100">
              <a:solidFill>
                <a:srgbClr val="2B8C7E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B8C7E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12시 전</c:v>
              </c:pt>
              <c:pt idx="1">
                <c:v>13시</c:v>
              </c:pt>
              <c:pt idx="2">
                <c:v>14시</c:v>
              </c:pt>
              <c:pt idx="3">
                <c:v>15시</c:v>
              </c:pt>
              <c:pt idx="4">
                <c:v>장 마감</c:v>
              </c:pt>
            </c:strLit>
          </c:cat>
          <c:val>
            <c:numLit>
              <c:formatCode>0.0%</c:formatCode>
              <c:ptCount val="5"/>
              <c:pt idx="0">
                <c:v>0.5342</c:v>
              </c:pt>
              <c:pt idx="1">
                <c:v>0.7365</c:v>
              </c:pt>
              <c:pt idx="2">
                <c:v>0.8777</c:v>
              </c:pt>
              <c:pt idx="3">
                <c:v>0.936</c:v>
              </c:pt>
              <c:pt idx="4">
                <c:v>0.9403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 xmlns:a="http://schemas.openxmlformats.org/drawingml/2006/main">
              <a:srgbClr val="B64D4D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2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2배 미만</c:v>
              </c:pt>
              <c:pt idx="1">
                <c:v>2~5배 미만</c:v>
              </c:pt>
              <c:pt idx="2">
                <c:v>5~10배 미만</c:v>
              </c:pt>
              <c:pt idx="3">
                <c:v>10배 이상</c:v>
              </c:pt>
            </c:strLit>
          </c:cat>
          <c:val>
            <c:numLit>
              <c:formatCode>0</c:formatCode>
              <c:ptCount val="4"/>
              <c:pt idx="0">
                <c:v>1</c:v>
              </c:pt>
              <c:pt idx="1">
                <c:v>4</c:v>
              </c:pt>
              <c:pt idx="2">
                <c:v>3</c:v>
              </c:pt>
              <c:pt idx="3">
                <c:v>33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 xmlns:a="http://schemas.openxmlformats.org/drawingml/2006/main">
              <a:srgbClr val="2B8C7E"/>
            </a:solidFill>
          </c:spPr>
          <c:invertIfNegative val="1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1"/>
              <c:pt idx="0">
                <c:v>09:00</c:v>
              </c:pt>
              <c:pt idx="1">
                <c:v>09:01</c:v>
              </c:pt>
              <c:pt idx="2">
                <c:v>09:02</c:v>
              </c:pt>
              <c:pt idx="3">
                <c:v>09:03</c:v>
              </c:pt>
              <c:pt idx="4">
                <c:v>09:04</c:v>
              </c:pt>
              <c:pt idx="5">
                <c:v>09:05</c:v>
              </c:pt>
              <c:pt idx="6">
                <c:v>09:06</c:v>
              </c:pt>
              <c:pt idx="7">
                <c:v>09:07</c:v>
              </c:pt>
              <c:pt idx="8">
                <c:v>09:08</c:v>
              </c:pt>
              <c:pt idx="9">
                <c:v>09:09</c:v>
              </c:pt>
              <c:pt idx="10">
                <c:v>09:10</c:v>
              </c:pt>
            </c:strLit>
          </c:cat>
          <c:val>
            <c:numLit>
              <c:formatCode>0</c:formatCode>
              <c:ptCount val="11"/>
              <c:pt idx="0">
                <c:v>791</c:v>
              </c:pt>
              <c:pt idx="1">
                <c:v>160</c:v>
              </c:pt>
              <c:pt idx="2">
                <c:v>79</c:v>
              </c:pt>
              <c:pt idx="3">
                <c:v>50</c:v>
              </c:pt>
              <c:pt idx="4">
                <c:v>40</c:v>
              </c:pt>
              <c:pt idx="5">
                <c:v>45</c:v>
              </c:pt>
              <c:pt idx="6">
                <c:v>50</c:v>
              </c:pt>
              <c:pt idx="7">
                <c:v>36</c:v>
              </c:pt>
              <c:pt idx="8">
                <c:v>29</c:v>
              </c:pt>
              <c:pt idx="9">
                <c:v>25</c:v>
              </c:pt>
              <c:pt idx="10">
                <c:v>15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날짜 비율</c:v>
          </c:tx>
          <c:spPr>
            <a:solidFill xmlns:a="http://schemas.openxmlformats.org/drawingml/2006/main">
              <a:srgbClr val="2B8C7E"/>
            </a:solidFill>
          </c:spPr>
          <c:invertIfNegative val="0"/>
          <c:cat>
            <c:strLit>
              <c:ptCount val="5"/>
              <c:pt idx="0">
                <c:v>2배 이상</c:v>
              </c:pt>
              <c:pt idx="1">
                <c:v>3배 이상</c:v>
              </c:pt>
              <c:pt idx="2">
                <c:v>4배 이상</c:v>
              </c:pt>
              <c:pt idx="3">
                <c:v>5배 이상</c:v>
              </c:pt>
              <c:pt idx="4">
                <c:v>10배 이상</c:v>
              </c:pt>
            </c:strLit>
          </c:cat>
          <c:val>
            <c:numLit>
              <c:formatCode>0.00%</c:formatCode>
              <c:ptCount val="5"/>
              <c:pt idx="0">
                <c:v>1</c:v>
              </c:pt>
              <c:pt idx="1">
                <c:v>1</c:v>
              </c:pt>
              <c:pt idx="2">
                <c:v>0.9965</c:v>
              </c:pt>
              <c:pt idx="3">
                <c:v>0.9858</c:v>
              </c:pt>
              <c:pt idx="4">
                <c:v>0.727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E2A34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4배 이상</c:v>
          </c:tx>
          <c:spPr>
            <a:ln xmlns:a="http://schemas.openxmlformats.org/drawingml/2006/main" w="28575">
              <a:solidFill>
                <a:srgbClr val="2F6B8A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2023.08~12</c:v>
              </c:pt>
              <c:pt idx="1">
                <c:v>2024</c:v>
              </c:pt>
              <c:pt idx="2">
                <c:v>2025</c:v>
              </c:pt>
              <c:pt idx="3">
                <c:v>2026.01~08</c:v>
              </c:pt>
            </c:strLit>
          </c:cat>
          <c:val>
            <c:numLit>
              <c:formatCode>0.0%</c:formatCode>
              <c:ptCount val="4"/>
              <c:pt idx="0">
                <c:v>0.9737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ser>
          <c:idx val="1"/>
          <c:order val="1"/>
          <c:tx>
            <c:v>5배 이상</c:v>
          </c:tx>
          <c:spPr>
            <a:ln xmlns:a="http://schemas.openxmlformats.org/drawingml/2006/main" w="28575">
              <a:solidFill>
                <a:srgbClr val="D9773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2023.08~12</c:v>
              </c:pt>
              <c:pt idx="1">
                <c:v>2024</c:v>
              </c:pt>
              <c:pt idx="2">
                <c:v>2025</c:v>
              </c:pt>
              <c:pt idx="3">
                <c:v>2026.01~08</c:v>
              </c:pt>
            </c:strLit>
          </c:cat>
          <c:val>
            <c:numLit>
              <c:formatCode>0.0%</c:formatCode>
              <c:ptCount val="4"/>
              <c:pt idx="0">
                <c:v>0.9737</c:v>
              </c:pt>
              <c:pt idx="1">
                <c:v>0.9674</c:v>
              </c:pt>
              <c:pt idx="2">
                <c:v>1</c:v>
              </c:pt>
              <c:pt idx="3">
                <c:v>1</c:v>
              </c:pt>
            </c:numLit>
          </c:val>
        </c:ser>
        <c:ser>
          <c:idx val="2"/>
          <c:order val="2"/>
          <c:tx>
            <c:v>10배 이상</c:v>
          </c:tx>
          <c:spPr>
            <a:ln xmlns:a="http://schemas.openxmlformats.org/drawingml/2006/main" w="38100">
              <a:solidFill>
                <a:srgbClr val="B64D4D"/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4"/>
              <c:pt idx="0">
                <c:v>2023.08~12</c:v>
              </c:pt>
              <c:pt idx="1">
                <c:v>2024</c:v>
              </c:pt>
              <c:pt idx="2">
                <c:v>2025</c:v>
              </c:pt>
              <c:pt idx="3">
                <c:v>2026.01~08</c:v>
              </c:pt>
            </c:strLit>
          </c:cat>
          <c:val>
            <c:numLit>
              <c:formatCode>0.0%</c:formatCode>
              <c:ptCount val="4"/>
              <c:pt idx="0">
                <c:v>0.5263</c:v>
              </c:pt>
              <c:pt idx="1">
                <c:v>0.6848</c:v>
              </c:pt>
              <c:pt idx="2">
                <c:v>0.7283</c:v>
              </c:pt>
              <c:pt idx="3">
                <c:v>0.9167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E2A34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D6B78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57A97A0-22AB-4099-BFD3-DC00CB07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위클리 옵션 만기일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가격 경로 연구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2026EE-DC9D-4E2F-A4A8-5B4ADE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rPr>
              <a:t>2026년 1월 5일~8월 31일 · 만기일 60일 · 1분봉 원자료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749C7C6-6EBB-4BCD-9377-913350A0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rPr>
              <a:t>오전 진입가격, 시간대별 소멸, 반등과 재진입 위험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1BD3A27-745B-41DD-B03B-2D5E23D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53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KRX 위클리 옵션 연구 요약</a:t>
            </a:r>
          </a:p>
        </p:txBody>
      </p:sp>
    </p:spTree>
    <p:extLst>
      <p:ext uri="{BB962C8B-B14F-4D97-AF65-F5344CB8AC3E}">
        <p14:creationId xmlns:p14="http://schemas.microsoft.com/office/powerpoint/2010/main" val="13463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1F0E7CC-C5E3-432A-8525-4D1861B4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연구 범위와 사건 순서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D29D6CB-5244-488A-BA35-90E83BAE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실제 OHLC 관측값과 서로 다른 1분봉만 사용</a:t>
            </a:r>
          </a:p>
        </p:txBody>
      </p:sp>
      <p:graphicFrame>
        <p:nvGraphicFramePr>
          <p:cNvPr id="10" name="표 9">
            <a:extLst xmlns:a="http://schemas.openxmlformats.org/drawingml/2006/main">
              <a:ext uri="{FF2B5EF4-FFF2-40B4-BE49-F238E27FC236}">
                <a16:creationId xmlns:a16="http://schemas.microsoft.com/office/drawing/2014/main" id="{C14580E1-9423-4106-96BC-8F7FA0C181AC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191500"/>
              </a:tblGrid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표본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09:00~09:10 실제 OHLC가 지정 가격대에 처음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기준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전은 12:00 봉 제외, 13·14·15시는 정각 봉 포함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또는 0.04가 OHLC에 정확히 기록된 경우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절반·4분의 1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저가가 최초가격의 50% 또는 25% 이하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반등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봉부터 30분 이내 고가가 기준가격의 1.5배 이상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475580D-749E-4C47-97DA-F3B09E6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원칙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4D495C5-243C-4BFA-8446-0360F768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같은 봉의 순서를 추정하지 않았고, 비정상 OHLC 종목을 제외했다. 기존 수익률이나 최적 비율을 새 분석의 입력으로 재사용하지 않았다.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73048E0-FE49-4754-8975-0A3DDB9B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원자료 ZIP, expiry_mapping.csv, 각 분석 metadata.json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3F752AC-DA7B-4A66-9370-66872197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3312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5BFF96B-B31A-4613-9CEE-583CA1E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오전 0.40~0.80 옵션의 0.03 도달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8CCD3E9-88FC-45F6-B847-CD9EEAF3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 85% 이상이 정확히 0.03을 기록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96A53163-5A71-42AE-AF90-BC73CBE4777C}"/>
              </a:ext>
            </a:extLst>
          </p:cNvPr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7334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9d7a291bb5465c"/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0FA97C2-0442-4EF6-9736-04D1C850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776 / 877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4562CA7-32D6-4A24-BDDD-44E77DEA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5FC8215-6C6F-40F7-A022-A0BA56E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678 / 792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C599CB4-27AA-4FFA-A8D6-D0BA4CEF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1C033DA-5C71-490A-BB80-B3F243F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range_04_06_summary.csv, range_06_08_summary.csv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A33A495-0F61-43E6-A989-2B7F114A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211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8AC605F2-4A6F-466F-BC8C-88B97AE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상승 후 원래 가격대로 돌아온 경로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E654C5C-68EB-43DB-AE1C-21B5851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재진입 이후 15시까지 0.03 도달률은 82.7~84.6%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4D421295-99E4-4C27-8FF5-F9FBB025227E}"/>
              </a:ext>
            </a:extLst>
          </p:cNvPr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be6c7900ee47a9"/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FCC930A-57CC-47EB-B2EA-0FE9FFFC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재진입 사례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E859B4A-B9F9-4AA2-9D29-4BD38AE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649건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7AE7477-9873-4926-827D-5C687558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47762EC-19B6-40F2-AEDD-3E5A095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624건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8D00C43-BDE0-46F3-AA3B-22B3524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AE09990-C045-409A-A94F-2CB8894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같은 봉에서 상승과 복귀가 함께 발생한 경우는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6CA61BC8-CE94-450F-B96C-F33B0828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reentry_decay_summary.csv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E9503A0-13EE-4961-91D9-3B090E6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47438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AB2869E-294E-404B-B6DC-85361B3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1.5배 상승 뒤 재하락한 사례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686EFB7-E6FE-435F-AB5A-4FA36C2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손절선 도달 뒤 구간 하단 아래로 내려온 옵션도 다수가 0.03에 도달</a:t>
            </a:r>
          </a:p>
        </p:txBody>
      </p:sp>
      <p:graphicFrame>
        <p:nvGraphicFramePr>
          <p:cNvPr id="13" name="표 12">
            <a:extLst xmlns:a="http://schemas.openxmlformats.org/drawingml/2006/main">
              <a:ext uri="{FF2B5EF4-FFF2-40B4-BE49-F238E27FC236}">
                <a16:creationId xmlns:a16="http://schemas.microsoft.com/office/drawing/2014/main" id="{12636D7C-8F09-48B6-8DBC-C7583A781672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66875"/>
                <a:gridCol w="1666875"/>
                <a:gridCol w="1666875"/>
                <a:gridCol w="1666875"/>
                <a:gridCol w="2095500"/>
              </a:tblGrid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가격대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1.5배 도달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이탈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0.03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도달률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41.06%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532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502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424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84.46%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484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456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369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80.92%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18C119F-05D9-4BA9-9C59-1B712B4A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14.45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7ABF992-E5AD-46E7-BE3D-5FC1606C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 성공 사례의 최대 고점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9624C1F-67C9-4726-BE59-5BCB67D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053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16.25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6DB37C0-82C5-45A7-80A2-ACE51204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 성공 사례의 최대 고점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B0B1A64-FEEE-401D-A87A-9E44500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손절 후 되돌림 빈도가 높아 재진입 규칙과 꼬리손실을 함께 검토해야 한다.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36A9980-C9D0-48B5-98A0-FBB87F6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reentry_decay_summary.csv, reentry_decay_events.csv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52C1C2B-B074-4555-80B9-611D0CF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5350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D5D3BE9-0A1E-447D-A07D-08AC998A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가격 하락 단계와 목표가 도달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E3CB90D-52EA-4268-A927-895BFD7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더 낮은 단계에 도달한 집단일수록 후속 목표가 도달률이 높음</a:t>
            </a:r>
          </a:p>
        </p:txBody>
      </p:sp>
      <p:graphicFrame>
        <p:nvGraphicFramePr>
          <p:cNvPr id="13" name="표 12">
            <a:extLst xmlns:a="http://schemas.openxmlformats.org/drawingml/2006/main">
              <a:ext uri="{FF2B5EF4-FFF2-40B4-BE49-F238E27FC236}">
                <a16:creationId xmlns:a16="http://schemas.microsoft.com/office/drawing/2014/main" id="{777E08D2-029A-4EC0-BD07-BB539211B9B3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809750"/>
                <a:gridCol w="1333500"/>
                <a:gridCol w="1905000"/>
                <a:gridCol w="1905000"/>
                <a:gridCol w="19050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가격대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단계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마감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56.69%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92.58%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45.54%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89.33%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91.20%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0.80~1.20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42.59%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87.50%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89.79%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0.80~1.20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4분의 1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47.90%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90.85%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92.65%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1236F16-03C5-48A9-91A4-882C7EA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816건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5210BE2-91F1-43D4-BE16-83DE954D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0.80~1.20에서 4분의 1 가격 도달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12A5D97-4267-4370-B82F-B686D5F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756건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2B21A17-A9DF-4AC6-8993-A442756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7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그중 장 마감까지 0.04 도달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CDAAFC8-9BCF-4CA3-B1A9-953F8E0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958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정확한 목표가 기록을 사용했으며 목표가 아래로 건너뛴 사례는 별도 관리했다.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7AD0DE3-9FF3-4EC1-8E36-344173C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half_price_summary.csv, half_price_08_12_target04_summary.csv, quarter_price_08_12_target04_summary.csv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1EE9E58-985A-4298-B2A2-4A7E8B8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52312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36AA5CB-2933-4FA3-9A8B-F8F78DF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절반가격 도달 후 30분 반등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A12DDCD-9EFD-487F-8134-E42C4635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세 가격대 모두 절반가격의 1.5배 반등률은 약 40%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A085F87-6D84-4EDF-B358-711AB64330EF}"/>
              </a:ext>
            </a:extLst>
          </p:cNvPr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7239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a366a484b84777"/>
          </a:graphicData>
        </a:graphic>
      </p:graphicFrame>
      <p:graphicFrame>
        <p:nvGraphicFramePr>
          <p:cNvPr id="11" name="표 10">
            <a:extLst xmlns:a="http://schemas.openxmlformats.org/drawingml/2006/main">
              <a:ext uri="{FF2B5EF4-FFF2-40B4-BE49-F238E27FC236}">
                <a16:creationId xmlns:a16="http://schemas.microsoft.com/office/drawing/2014/main" id="{D5C105BE-C9DE-445F-9FA9-8BB45054523B}"/>
              </a:ext>
            </a:extLst>
          </p:cNvPr>
          <p:cNvGraphicFramePr/>
          <p:nvPr/>
        </p:nvGraphicFramePr>
        <p:xfrm>
          <a:off xmlns:a="http://schemas.openxmlformats.org/drawingml/2006/main" x="8334375" y="1952625"/>
          <a:ext xmlns:a="http://schemas.openxmlformats.org/drawingml/2006/main" cx="3048000" cy="20974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904875"/>
                <a:gridCol w="904875"/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가격대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 도달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반등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0.70~0.90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732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311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1.00~1.20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63B379B-352A-4AD5-BABC-F650EE9A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중복 제거 총합: 1,281건 중 518건 반등 · 40.44%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8CFDC0AA-13F7-4453-AA59-B354C9D0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half_rebound_30m_summary.csv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2A3E54A-2DCD-431C-B112-E8763AC6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4881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CCF5AE1-A784-453C-A852-AB6F96CF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4분의 1 가격 도달 후 30분 반등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7A7F481E-9E3F-4FE3-BDB9-6B8B7C3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0.80~1.20 옵션 816건 중 331건이 1.5배 반등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4567AB0-60F1-4B21-BBD9-4B0C3569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40.56%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6A5169C-BED5-4D6F-9275-EE99DDA9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4분의 1 가격의 1.5배까지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30분 이내 반등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1E6EA0D8-E121-4E7B-95E5-8D082CB77730}"/>
              </a:ext>
            </a:extLst>
          </p:cNvPr>
          <p:cNvGraphicFramePr/>
          <p:nvPr/>
        </p:nvGraphicFramePr>
        <p:xfrm>
          <a:off xmlns:a="http://schemas.openxmlformats.org/drawingml/2006/main" x="4953000" y="1524000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5e70c6171f422a"/>
          </a:graphicData>
        </a:graphic>
      </p:graphicFrame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952DC08-2807-4164-884F-A3CCE57E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같은 봉 순서 불명 43건 제외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3926049-A26D-4202-A4DB-62D3F54C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장 종료로 30분 미관측 11건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623239B-7336-45BB-871A-593EA5D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quarter_price_08_12_target04_summary.csv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7A11389-433B-4186-B971-7D72C48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1410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790ECE-F996-4015-AEEC-B428B42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1,320건의 30분 상승 판정 구조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DACEA62-874F-4027-ABF3-7FD3504C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동일 진입 분봉의 순서 불명 37건을 별도로 분리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EB993DC-2EC9-40F9-BB1A-6EEA37E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633건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B3A0DFB-CAA4-4729-A836-B2DC355B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다음 분부터 30분 이내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1.5배 도달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DFA5D58-86A2-4C1A-A89B-8C27CFD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57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0D82E24-F01A-4CA0-A927-F2B5018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71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37건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06118A6-652D-44C6-86EB-E09C18F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43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같은 진입 분봉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사건 순서 불명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02055C1-41A9-44CD-8B5D-1561725F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F2C94A3-0124-4CFD-8FB8-B71264B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716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650건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934DED6-3EDB-4BD2-9BED-6962722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30분 이내 1.5배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미도달 확정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7C12B8C-35A4-4473-A5CB-6BF9F822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= 1,320건</a:t>
            </a:r>
          </a:p>
        </p:txBody>
      </p:sp>
      <p:graphicFrame>
        <p:nvGraphicFramePr>
          <p:cNvPr id="27" name="표 26">
            <a:extLst xmlns:a="http://schemas.openxmlformats.org/drawingml/2006/main">
              <a:ext uri="{FF2B5EF4-FFF2-40B4-BE49-F238E27FC236}">
                <a16:creationId xmlns:a16="http://schemas.microsoft.com/office/drawing/2014/main" id="{4090D1EA-14A5-467F-8A27-5BE4B9F7E461}"/>
              </a:ext>
            </a:extLst>
          </p:cNvPr>
          <p:cNvGraphicFramePr/>
          <p:nvPr/>
        </p:nvGraphicFramePr>
        <p:xfrm>
          <a:off xmlns:a="http://schemas.openxmlformats.org/drawingml/2006/main" x="1428750" y="3333750"/>
          <a:ext xmlns:a="http://schemas.openxmlformats.org/drawingml/2006/main" cx="93345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1809750"/>
                <a:gridCol w="1905000"/>
                <a:gridCol w="18097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상승 판정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도달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미도달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분봉 순서 불명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EA72C7D-8AFB-4E83-9D66-11B8B93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94.03% = 646 / 687 · 엄격 기준 94.62% = 615 / 650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D48114B3-70A1-4BA3-A4B9-E44E6D22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entry_15x_failure_target03_events.csv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81294C6-8859-4993-BB3F-7C29463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8338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58BF60A-0B1D-42FA-94EA-D089BAD5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30분 내 1.5배 도달 633건의 장중 최고점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56F2DE0-DD8A-4F49-881A-5F6076EB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 다음 분부터 장 마감까지의 최고가 ÷ 최초 관측가격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3DA70A2E-FFBD-45E1-85F3-DB44702ACEA4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976aab914145e8"/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2652183-CC5F-48A5-B3D7-7536F214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최고 배수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B7B32C1-F857-4921-BD89-320680A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86.07배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8FDCE82-5F89-47FF-9AC2-B7D9A48D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0.70 → 60.25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2026-07-13 · 14:31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521AD52-C236-495E-AAD9-25E6E66F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절대가격 최고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6CC88F0-E06C-4105-9E0C-10AD87F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74.00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E8A4CBB-F3B2-4E67-B251-7EF220D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1.14 대비 64.91배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183E205-8BD5-49A9-85B7-195456A5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중앙값 3.32배 · 2배 이상 75.83% · 5배 이상 34.44% · 10배 이상 19.91%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A1361A4-B01C-4B22-98DB-34D877AC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entry_15x_risers_peak_detail.csv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85261272-FC15-4778-9377-BC8FF6FB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94520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8838AA5-05B5-4DEF-903F-DA01485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최초가격의 1.5배에 오르지 못한 옵션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D75340E-A380-4B84-AC88-E005561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중복 제거 687건 중 646건이 장 마감까지 0.03 도달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267302A-9A7A-489F-B36A-06D4603D4911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6953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c5c931188d4b63"/>
          </a:graphicData>
        </a:graphic>
      </p:graphicFrame>
      <p:graphicFrame>
        <p:nvGraphicFramePr>
          <p:cNvPr id="11" name="표 10">
            <a:extLst xmlns:a="http://schemas.openxmlformats.org/drawingml/2006/main">
              <a:ext uri="{FF2B5EF4-FFF2-40B4-BE49-F238E27FC236}">
                <a16:creationId xmlns:a16="http://schemas.microsoft.com/office/drawing/2014/main" id="{53B25621-28BA-4D0D-9E7F-52FC7738E289}"/>
              </a:ext>
            </a:extLst>
          </p:cNvPr>
          <p:cNvGraphicFramePr/>
          <p:nvPr/>
        </p:nvGraphicFramePr>
        <p:xfrm>
          <a:off xmlns:a="http://schemas.openxmlformats.org/drawingml/2006/main" x="8191500" y="1666875"/>
          <a:ext xmlns:a="http://schemas.openxmlformats.org/drawingml/2006/main" cx="31432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</a:tblGrid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 marL="91440" marR="91440" marT="45720" marB="45720">
                    <a:solidFill>
                      <a:srgbClr val="14283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옵션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1,320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내 1.5배 상승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633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내 미상승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 후 0.03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646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미상승·0.03 미도달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E93875D-BBE6-471F-966F-B5F03FE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911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엄격 기준: 확정 미상승 650건 중 615건이 0.03 도달 · 94.62%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16DDFCB-4C84-454F-B5BA-8F31612E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entry_15x_failure_target03_summary.csv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60A895A-2D27-4CCC-AB00-C7D494C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89635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31F45C04-53A5-4BF4-B6AD-F3BFC4FE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0.03 미도달 41건의 장중 최고점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C0DEE9F-C89E-4D69-A398-B4C05643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 다음 분부터 장 마감까지의 고가 ÷ 최초 관측가격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51B6AA1C-A215-4598-B0DC-C5CDB93635E0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8103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a06dbf427c46d9"/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BDFED22-0E62-4D32-9DEB-2BCF784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누적 기준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87683B5-C36C-49B7-A1F1-DA44C45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40건 · 97.56%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DAB6BF1-B7A5-4BC2-9BC7-B710B42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2배 이상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84166D9-3DC1-4EEB-9BF3-5738B6E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36건 · 87.80%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EE29825-E6AB-48E7-91DF-E6F9E318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5배 이상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CC8CF8E-735C-4B45-B304-97B2D5D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33건 · 80.49%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B156CE57-D583-4A14-B6BD-C7525A8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10배 이상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E89BFA5-CE4B-4D0C-8E10-D2F3783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41건 중 21건이 2026-07-13과 2026-08-18 두 날짜에 집중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69065E5-54D7-41D5-B2D1-DCF716F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entry_15x_non_target_peak_detail.csv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1882075-95EE-4AFC-AC91-2FD9FB9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67269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FB7992B-C404-41D9-9DBE-24A501F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가장 크게 상승한 사례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CCFE1B2-FFC4-4E8F-87C6-FD6930B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높은 0.03 도달률의 반대편에는 매우 큰 꼬리위험이 존재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471B228-4F07-45CF-B941-43C2032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최고 배수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A71D1BB-6F88-4B98-9520-57B65BFA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0.43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CBCD932-80CB-4A39-BC13-4ABE37F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관측가격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A3D7B08-C61F-4254-809E-C8D83994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0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1447B27-C949-4A67-B67F-8F99854A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431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31.15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21DE3766-1AB6-4053-B0E3-D881AD0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당일 최고가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A4A06D7-6C44-47B9-BA6A-6D124A2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72.44배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99DA500-7D5E-4B7B-B2D0-3EDF9C01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2026-07-13 · 14:30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B2CB2466-3082-4ACC-BE2B-AF8670B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절대가격 최고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1BF64F2-3D1A-4719-8BB1-C0B257C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1.13 → 50.00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1019362-91C5-4DFB-B9E2-C824D7C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44.25배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1E43B00-240A-46B1-B9D8-4D63EDCF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41건의 최고 배수 중앙값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F8E2D9E-4692-42EE-BD3B-D3F092CE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19.0배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91B034D6-9A0B-48A5-B37C-10308515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DEC"/>
          </a:solidFill>
          <a:ln xmlns:a="http://schemas.openxmlformats.org/drawingml/2006/main" w="14288">
            <a:solidFill>
              <a:srgbClr val="E4A5A2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94.03%의 높은 0.03 도달률만 보고 손절 없이 매도하면, 나머지 약 6%에서 손실 규모가 매우 크게 확대될 수 있다.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34ECC32-850B-4566-B100-345326E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entry_15x_non_target_peak_detail.csv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C24E03F4-F2DF-44D7-A8C0-6ACA01E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98589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7A77C77-552A-40D2-A899-F79BEEC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최초가격 관측 시각의 1분 단위 분포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268C5DF-523D-4B9E-9B9D-2DBF9F7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중복 제거 1,320건 · 각 옵션의 가장 이른 관측 사건 하나만 사용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FD01DFC2-5250-479C-B327-1D877E10AE05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f4a69590f840ba"/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97FFB55-5233-4742-BC7E-7493969D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평균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E99ADED-853C-498D-B56C-BD80A12B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09:01:31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1845B749-6134-4EC8-A1B3-82746E00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중앙값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54729BB-8C6D-46C6-89EF-35024CA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09:00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60F668B-65F0-4598-89D7-93E59A4A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09:00 비중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50C9E25-D15D-4D50-B9AD-289279B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0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59.92%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E9B4C3D-168D-4984-93E5-035A4F2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09:05까지 누적 88.26% · 09:06까지 누적 92.05%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03F9F20-2839-456B-AA58-9F2B0E0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entry_first_observation_by_minute.csv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6312AC6-9A7E-4095-A8E5-0EA90408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7013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C425D0D-EBCE-4909-8DE2-7EB2E5C3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매도 전략에 주는 시사점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0424AFE-BC99-4BFA-9AAF-AD92E7A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빈도 결과와 꼬리위험을 동시에 반영해야 함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FA10958E-7B75-4276-B7DF-BA34CF4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D5FA952-683E-4549-B9E8-2CB0B06B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716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오전에는 목표가 도달이 충분히 진행되지 않는다. 0.03 도달은 12시 이후 크게 늘고, 15시까지 누적률이 80~90%대로 올라간다.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AC0A9B0-B6A6-4E31-B352-D4DEF9F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반등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234891-B32B-44A6-B016-3C95E737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절반 또는 4분의 1 가격까지 내려온 뒤에도 약 40%가 30분 안에 1.5배 반등했다. 낮은 가격에서의 재매도는 짧은 반등 위험을 포함한다.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0817188-C520-4DB5-A885-C28A4DA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손절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453F168-7282-4CB9-A7F1-B5FA7DD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1.5배까지 상승했다가 다시 하락한 사례의 80% 이상이 15시까지 목표가에 도달했다. 고정 손절은 손실을 제한하지만 되돌림 손실도 만든다.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C23060A-222C-4023-A379-FB89FBF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66179C16-D4E3-466B-8AE7-FA220DE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손절선, 재진입 조건, 청산시간을 한 세트로 검증해야 한다. 0.03 미도달 41건의 80.49%가 10배 이상 상승했고 최대 고점은 72.44배였다.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9DC6B52-78AE-49B6-AAAC-5E231200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해석은 본 연구의 관측 빈도에 한정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6F9D9D3-4DAB-4CF4-8583-6EDAF47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48308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138C6BA-A91C-4003-A972-49A16556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해석 범위와 다음 검증</a:t>
            </a:r>
          </a:p>
        </p:txBody>
      </p:sp>
      <p:graphicFrame>
        <p:nvGraphicFramePr>
          <p:cNvPr id="8" name="표 7">
            <a:extLst xmlns:a="http://schemas.openxmlformats.org/drawingml/2006/main">
              <a:ext uri="{FF2B5EF4-FFF2-40B4-BE49-F238E27FC236}">
                <a16:creationId xmlns:a16="http://schemas.microsoft.com/office/drawing/2014/main" id="{A9D30FEA-1C5E-480E-8BF4-F0FC566BBA6B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66725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543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연구의 범위</a:t>
                      </a:r>
                    </a:p>
                  </a:txBody>
                  <a:tcPr marL="91440" marR="91440" marT="45720" marB="45720">
                    <a:solidFill>
                      <a:srgbClr val="2543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검증</a:t>
                      </a:r>
                    </a:p>
                  </a:txBody>
                  <a:tcPr marL="91440" marR="91440" marT="45720" marB="45720">
                    <a:solidFill>
                      <a:srgbClr val="2543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1분봉 OHLC의 실제 기록값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틱 단위 체결 순서와 호가잔량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체결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목표·손절 가격 도달 여부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슬리피지, 수수료, 주문 충족률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1~8월 만기일 60일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기간과 시장 국면별 재검증</a:t>
                      </a:r>
                    </a:p>
                  </a:txBody>
                  <a:tcPr marL="91440" marR="91440" marT="45720" marB="45720">
                    <a:solidFill>
                      <a:srgbClr val="1A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조건별 발생 빈도와 고점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일별 동일가중 손익과 최대 낙폭</a:t>
                      </a:r>
                    </a:p>
                  </a:txBody>
                  <a:tcPr marL="91440" marR="91440" marT="45720" marB="45720">
                    <a:solidFill>
                      <a:srgbClr val="20394F"/>
                    </a:solidFill>
                  </a:tcPr>
                </a:tc>
              </a:tr>
            </a:tbl>
          </a:graphicData>
        </a:graphic>
      </p:graphicFrame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279F3DDA-EA7E-443B-88F2-7C9A8E94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C49C550-4F96-4928-8DDD-EBC4B95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10125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목표가 도달 빈도는 높았지만, 그 과정의 반등과 극단 고점이 크다. 다음 단계는 청산시간과 손절·재진입 규칙을 포함한 순손익 검증이다.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1AE047-2F80-4D76-86E1-659D6A5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원자료 및 분석 산출물: D:/매매일지/KRX/Codex/expiry_morning_decay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6D4453A-8588-450C-ACAE-11B7C17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8502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BAEFD-761A-40CA-A86E-6108FE10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 유효 만기일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저점 이후 상승 빈도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5678-8341-4AA5-AED7-D746E16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rPr>
              <a:t>2023년 8월 3일~2026년 8월 31일 · 유효 만기일 282일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79745-EC78-4E86-B5C3-C068C9B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2배 이상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B326B-05CD-4DA7-AFD4-A0399ED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100.00%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27E4-5771-4707-A909-D769694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48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5배 이상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F42C6-7AD6-43BB-8244-B7E5FD7F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rPr>
              <a:t>98.58%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12572-486F-4F3C-8368-79F7082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10배 이상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754AF-C531-4F85-A6B6-E90BD37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7FD1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7FD1C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72.70%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67D2B-7FA9-469D-A2E6-9E2D7CBD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날짜 기준 · 개별 옵션 기준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4742A-5CF4-4156-8F08-C5C44957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576163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6C3C4-BCF4-47E6-8E9D-2CAA92C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전체 만기일의 상승배수 도달률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D6054-6916-471C-963F-FCF071F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앞선 분봉의 저가 대비 뒤 분봉의 고가 · 날짜별 최대 배수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E9EEE41-FC38-49DB-9436-CC88C125766A}"/>
              </a:ext>
            </a:extLst>
          </p:cNvPr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8096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697e032458422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F1B2E-6571-48CC-BC7B-F4034A4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>
            <a:defPPr algn="ctr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282 / 282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D6574-8A40-4C1F-97C6-AE94D9C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2배·3배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EF24-CF9D-4B26-90F3-00CFDD6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>
            <a:defPPr algn="ctr">
              <a:defRPr sz="23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281 / 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B2780-C29B-44C3-993C-5CF063A9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EE52B-78E6-4B31-9F54-EB39988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>
            <a:defPPr algn="ctr">
              <a:defRPr sz="232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278 / 282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C5F76-8F2A-49DA-8A3A-412A1B2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73B77-6AA4-4691-8F5C-B7FC07D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>
            <a:defPPr algn="ctr">
              <a:defRPr sz="20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205 / 282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CC57C-CD51-48BF-A487-A47FE52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6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10배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943AE-2D3A-421B-9EDE-3ACF493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expiry_date_results.csv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BF71F-7F88-4E52-BE98-89EC36D8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656292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BC68A-E216-49CC-A772-87138A01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연도별 상승배수 도달률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16D25-2C64-47EB-9636-7B2E120B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괄호 안은 해당 기간의 유효 만기일 대비 비율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94D75-481E-4A59-AD72-791322D402A0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047750"/>
                <a:gridCol w="1619250"/>
                <a:gridCol w="1619250"/>
                <a:gridCol w="1619250"/>
                <a:gridCol w="1619250"/>
                <a:gridCol w="1619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만기일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2배 이상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3배 이상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4배 이상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5배 이상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10배 이상</a:t>
                      </a:r>
                    </a:p>
                  </a:txBody>
                  <a:tcPr marL="91440" marR="91440" marT="45720" marB="45720" anchor="ctr">
                    <a:solidFill>
                      <a:srgbClr val="14283D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2023.08~12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97.37%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97.37%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96.74%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68.48%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72.83%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2026.01~08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91.67%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282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282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281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99.65%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278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98.58%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205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428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72.70%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D2A26-AA05-45F0-81D0-E1282AD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10배 이상 도달률은 2023년 52.63%에서 2026년 91.67%로 높아졌다.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39EC6-7618-4A94-BA8A-EAAF462D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year_threshold_date_summary.csv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83E4F-26E9-45A1-A4E3-34C5787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55580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69174-B816-4C75-8A2A-C40F7455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고배수 도달률과 예외 날짜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C71B4-06CC-468C-A621-B88C2C93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5배는 거의 모든 만기일에서 발생했고 10배 도달률은 기간별 차이가 컸다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520DC0F-5219-460F-8515-B817435DC88B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69056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11ea24750f40a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3C061-D23F-4475-85A2-AA49EEE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ctr">
              <a:def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5배 미도달 4일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2815-0D20-4418-BC98-0A86C07E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2023-08-28   3.50배</a:t>
            </a:r>
          </a:p>
          <a:p xmlns:a="http://schemas.openxmlformats.org/drawingml/2006/main">
            <a:pPr algn="ctr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2024-01-15   4.25배</a:t>
            </a:r>
          </a:p>
          <a:p xmlns:a="http://schemas.openxmlformats.org/drawingml/2006/main">
            <a:pPr algn="ctr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2024-02-22   4.55배</a:t>
            </a:r>
          </a:p>
          <a:p xmlns:a="http://schemas.openxmlformats.org/drawingml/2006/main">
            <a:pPr algn="ctr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2024-05-07   4.50배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CEBED-0745-4350-98C0-09B7FED8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ctr"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4배 미도달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A77FE-AA97-4087-9A83-831664EB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2023-08-28 한 차례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F7DD-0479-47AA-BC6F-CA82411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검증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25BA5-D011-4F4F-AF9E-B7C983CC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09:00~15:20 · 같은 분봉 순서 제외</a:t>
            </a:r>
          </a:p>
          <a:p xmlns:a="http://schemas.openxmlformats.org/drawingml/2006/main">
            <a:pPr algn="ctr">
              <a:defRPr sz="127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비정상 종목 6개 제외 후 282일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FD614-79A1-4F6F-B642-F1A31B8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expiry_date_results.csv, data_quality.csv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5FC50-83B8-4F8F-B0EE-A4C864C0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36970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2026-10-11T03:27:52.2660000Z</dcterms:created>
  <dcterms:modified xsi:type="dcterms:W3CDTF">2026-10-11T03:27:52.2660000Z</dcterms:modified>
</coreProperties>
</file>